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5148072"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7315200" cy="1097280"/>
          </a:xfrm>
          <a:prstGeom prst="rect">
            <a:avLst/>
          </a:prstGeom>
          <a:noFill/>
        </p:spPr>
        <p:txBody>
          <a:bodyPr wrap="square">
            <a:spAutoFit/>
          </a:bodyPr>
          <a:lstStyle/>
          <a:p>
            <a:pPr algn="ctr"/>
            <a:r>
              <a:rPr sz="3600" b="1">
                <a:solidFill>
                  <a:srgbClr val="FFFFFF"/>
                </a:solidFill>
              </a:rPr>
              <a:t>Newsletter Estratégico Financiero</a:t>
            </a:r>
          </a:p>
        </p:txBody>
      </p:sp>
      <p:sp>
        <p:nvSpPr>
          <p:cNvPr id="4" name="TextBox 3"/>
          <p:cNvSpPr txBox="1"/>
          <p:nvPr/>
        </p:nvSpPr>
        <p:spPr>
          <a:xfrm>
            <a:off x="914400" y="2834640"/>
            <a:ext cx="7315200" cy="548640"/>
          </a:xfrm>
          <a:prstGeom prst="rect">
            <a:avLst/>
          </a:prstGeom>
          <a:noFill/>
        </p:spPr>
        <p:txBody>
          <a:bodyPr wrap="square">
            <a:spAutoFit/>
          </a:bodyPr>
          <a:lstStyle/>
          <a:p>
            <a:pPr algn="ctr"/>
            <a:r>
              <a:rPr sz="1600" b="0">
                <a:solidFill>
                  <a:srgbClr val="BBC7FF"/>
                </a:solidFill>
              </a:rPr>
              <a:t>Análisis diario · Geopolítica · Economía · Mercados · IA</a:t>
            </a:r>
          </a:p>
        </p:txBody>
      </p:sp>
      <p:sp>
        <p:nvSpPr>
          <p:cNvPr id="5" name="TextBox 4"/>
          <p:cNvSpPr txBox="1"/>
          <p:nvPr/>
        </p:nvSpPr>
        <p:spPr>
          <a:xfrm>
            <a:off x="914400" y="3566160"/>
            <a:ext cx="7315200" cy="457200"/>
          </a:xfrm>
          <a:prstGeom prst="rect">
            <a:avLst/>
          </a:prstGeom>
          <a:noFill/>
        </p:spPr>
        <p:txBody>
          <a:bodyPr wrap="square">
            <a:spAutoFit/>
          </a:bodyPr>
          <a:lstStyle/>
          <a:p>
            <a:pPr algn="ctr"/>
            <a:r>
              <a:rPr sz="1400" b="1">
                <a:solidFill>
                  <a:srgbClr val="00897B"/>
                </a:solidFill>
              </a:rPr>
              <a:t>22 de Mayo de 2026</a:t>
            </a:r>
          </a:p>
        </p:txBody>
      </p:sp>
      <p:sp>
        <p:nvSpPr>
          <p:cNvPr id="6" name="Rectangle 5"/>
          <p:cNvSpPr/>
          <p:nvPr/>
        </p:nvSpPr>
        <p:spPr>
          <a:xfrm>
            <a:off x="0" y="4325112"/>
            <a:ext cx="9144000" cy="822960"/>
          </a:xfrm>
          <a:prstGeom prst="rect">
            <a:avLst/>
          </a:prstGeom>
          <a:solidFill>
            <a:srgbClr val="2835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416552"/>
            <a:ext cx="8229600" cy="548640"/>
          </a:xfrm>
          <a:prstGeom prst="rect">
            <a:avLst/>
          </a:prstGeom>
          <a:noFill/>
        </p:spPr>
        <p:txBody>
          <a:bodyPr wrap="square">
            <a:spAutoFit/>
          </a:bodyPr>
          <a:lstStyle/>
          <a:p>
            <a:pPr algn="ctr"/>
            <a:r>
              <a:rPr sz="1100" b="0">
                <a:solidFill>
                  <a:srgbClr val="BBC7FF"/>
                </a:solidFill>
              </a:rPr>
              <a:t>erickfranciscohernandez.github.io/financiero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8229600" cy="548640"/>
          </a:xfrm>
          <a:prstGeom prst="rect">
            <a:avLst/>
          </a:prstGeom>
          <a:noFill/>
        </p:spPr>
        <p:txBody>
          <a:bodyPr wrap="square">
            <a:spAutoFit/>
          </a:bodyPr>
          <a:lstStyle/>
          <a:p>
            <a:pPr algn="l"/>
            <a:r>
              <a:rPr sz="2200" b="1">
                <a:solidFill>
                  <a:srgbClr val="FFFFFF"/>
                </a:solidFill>
              </a:rPr>
              <a:t>📋  Resumen Ejecutivo</a:t>
            </a:r>
          </a:p>
        </p:txBody>
      </p:sp>
      <p:sp>
        <p:nvSpPr>
          <p:cNvPr id="4" name="Rectangle 3"/>
          <p:cNvSpPr/>
          <p:nvPr/>
        </p:nvSpPr>
        <p:spPr>
          <a:xfrm>
            <a:off x="274320" y="1051560"/>
            <a:ext cx="859536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051560"/>
            <a:ext cx="502920" cy="475488"/>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127760"/>
            <a:ext cx="502920" cy="399288"/>
          </a:xfrm>
          <a:prstGeom prst="rect">
            <a:avLst/>
          </a:prstGeom>
          <a:noFill/>
        </p:spPr>
        <p:txBody>
          <a:bodyPr wrap="square">
            <a:spAutoFit/>
          </a:bodyPr>
          <a:lstStyle/>
          <a:p>
            <a:pPr algn="ctr"/>
            <a:r>
              <a:rPr sz="1100" b="1">
                <a:solidFill>
                  <a:srgbClr val="FFFFFF"/>
                </a:solidFill>
              </a:rPr>
              <a:t>7</a:t>
            </a:r>
          </a:p>
        </p:txBody>
      </p:sp>
      <p:sp>
        <p:nvSpPr>
          <p:cNvPr id="7" name="TextBox 6"/>
          <p:cNvSpPr txBox="1"/>
          <p:nvPr/>
        </p:nvSpPr>
        <p:spPr>
          <a:xfrm>
            <a:off x="868680" y="1102360"/>
            <a:ext cx="1280160" cy="177800"/>
          </a:xfrm>
          <a:prstGeom prst="rect">
            <a:avLst/>
          </a:prstGeom>
          <a:noFill/>
        </p:spPr>
        <p:txBody>
          <a:bodyPr wrap="square">
            <a:spAutoFit/>
          </a:bodyPr>
          <a:lstStyle/>
          <a:p>
            <a:pPr algn="l"/>
            <a:r>
              <a:rPr sz="900" b="1">
                <a:solidFill>
                  <a:srgbClr val="1A237E"/>
                </a:solidFill>
              </a:rPr>
              <a:t>Geopolítica</a:t>
            </a:r>
          </a:p>
        </p:txBody>
      </p:sp>
      <p:sp>
        <p:nvSpPr>
          <p:cNvPr id="8" name="TextBox 7"/>
          <p:cNvSpPr txBox="1"/>
          <p:nvPr/>
        </p:nvSpPr>
        <p:spPr>
          <a:xfrm>
            <a:off x="868680" y="1280160"/>
            <a:ext cx="6858000" cy="254000"/>
          </a:xfrm>
          <a:prstGeom prst="rect">
            <a:avLst/>
          </a:prstGeom>
          <a:noFill/>
        </p:spPr>
        <p:txBody>
          <a:bodyPr wrap="square">
            <a:spAutoFit/>
          </a:bodyPr>
          <a:lstStyle/>
          <a:p>
            <a:pPr algn="l"/>
            <a:r>
              <a:rPr sz="1000" b="0">
                <a:solidFill>
                  <a:srgbClr val="212121"/>
                </a:solidFill>
              </a:rPr>
              <a:t>Trump Tells Warsh to Do ‘Own Thing’ as Fed Chair Sworn In</a:t>
            </a:r>
          </a:p>
        </p:txBody>
      </p:sp>
      <p:sp>
        <p:nvSpPr>
          <p:cNvPr id="9" name="Rectangle 8"/>
          <p:cNvSpPr/>
          <p:nvPr/>
        </p:nvSpPr>
        <p:spPr>
          <a:xfrm>
            <a:off x="274320" y="1563624"/>
            <a:ext cx="8595360" cy="475488"/>
          </a:xfrm>
          <a:prstGeom prst="rect">
            <a:avLst/>
          </a:prstGeom>
          <a:solidFill>
            <a:srgbClr val="EEF1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1563624"/>
            <a:ext cx="502920" cy="475488"/>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1639824"/>
            <a:ext cx="502920" cy="399288"/>
          </a:xfrm>
          <a:prstGeom prst="rect">
            <a:avLst/>
          </a:prstGeom>
          <a:noFill/>
        </p:spPr>
        <p:txBody>
          <a:bodyPr wrap="square">
            <a:spAutoFit/>
          </a:bodyPr>
          <a:lstStyle/>
          <a:p>
            <a:pPr algn="ctr"/>
            <a:r>
              <a:rPr sz="1100" b="1">
                <a:solidFill>
                  <a:srgbClr val="FFFFFF"/>
                </a:solidFill>
              </a:rPr>
              <a:t>7</a:t>
            </a:r>
          </a:p>
        </p:txBody>
      </p:sp>
      <p:sp>
        <p:nvSpPr>
          <p:cNvPr id="12" name="TextBox 11"/>
          <p:cNvSpPr txBox="1"/>
          <p:nvPr/>
        </p:nvSpPr>
        <p:spPr>
          <a:xfrm>
            <a:off x="868680" y="1614424"/>
            <a:ext cx="1280160" cy="177800"/>
          </a:xfrm>
          <a:prstGeom prst="rect">
            <a:avLst/>
          </a:prstGeom>
          <a:noFill/>
        </p:spPr>
        <p:txBody>
          <a:bodyPr wrap="square">
            <a:spAutoFit/>
          </a:bodyPr>
          <a:lstStyle/>
          <a:p>
            <a:pPr algn="l"/>
            <a:r>
              <a:rPr sz="900" b="1">
                <a:solidFill>
                  <a:srgbClr val="1A237E"/>
                </a:solidFill>
              </a:rPr>
              <a:t>Geopolítica</a:t>
            </a:r>
          </a:p>
        </p:txBody>
      </p:sp>
      <p:sp>
        <p:nvSpPr>
          <p:cNvPr id="13" name="TextBox 12"/>
          <p:cNvSpPr txBox="1"/>
          <p:nvPr/>
        </p:nvSpPr>
        <p:spPr>
          <a:xfrm>
            <a:off x="868680" y="1792224"/>
            <a:ext cx="6858000" cy="254000"/>
          </a:xfrm>
          <a:prstGeom prst="rect">
            <a:avLst/>
          </a:prstGeom>
          <a:noFill/>
        </p:spPr>
        <p:txBody>
          <a:bodyPr wrap="square">
            <a:spAutoFit/>
          </a:bodyPr>
          <a:lstStyle/>
          <a:p>
            <a:pPr algn="l"/>
            <a:r>
              <a:rPr sz="1000" b="0">
                <a:solidFill>
                  <a:srgbClr val="212121"/>
                </a:solidFill>
              </a:rPr>
              <a:t>Trump Tells Warsh to 'Do Your Own Thing' at Fed</a:t>
            </a:r>
          </a:p>
        </p:txBody>
      </p:sp>
      <p:sp>
        <p:nvSpPr>
          <p:cNvPr id="14" name="Rectangle 13"/>
          <p:cNvSpPr/>
          <p:nvPr/>
        </p:nvSpPr>
        <p:spPr>
          <a:xfrm>
            <a:off x="274320" y="2075688"/>
            <a:ext cx="859536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 y="2075688"/>
            <a:ext cx="502920" cy="475488"/>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2151888"/>
            <a:ext cx="502920" cy="399288"/>
          </a:xfrm>
          <a:prstGeom prst="rect">
            <a:avLst/>
          </a:prstGeom>
          <a:noFill/>
        </p:spPr>
        <p:txBody>
          <a:bodyPr wrap="square">
            <a:spAutoFit/>
          </a:bodyPr>
          <a:lstStyle/>
          <a:p>
            <a:pPr algn="ctr"/>
            <a:r>
              <a:rPr sz="1100" b="1">
                <a:solidFill>
                  <a:srgbClr val="FFFFFF"/>
                </a:solidFill>
              </a:rPr>
              <a:t>7</a:t>
            </a:r>
          </a:p>
        </p:txBody>
      </p:sp>
      <p:sp>
        <p:nvSpPr>
          <p:cNvPr id="17" name="TextBox 16"/>
          <p:cNvSpPr txBox="1"/>
          <p:nvPr/>
        </p:nvSpPr>
        <p:spPr>
          <a:xfrm>
            <a:off x="868680" y="2126488"/>
            <a:ext cx="1280160" cy="177800"/>
          </a:xfrm>
          <a:prstGeom prst="rect">
            <a:avLst/>
          </a:prstGeom>
          <a:noFill/>
        </p:spPr>
        <p:txBody>
          <a:bodyPr wrap="square">
            <a:spAutoFit/>
          </a:bodyPr>
          <a:lstStyle/>
          <a:p>
            <a:pPr algn="l"/>
            <a:r>
              <a:rPr sz="900" b="1">
                <a:solidFill>
                  <a:srgbClr val="1A237E"/>
                </a:solidFill>
              </a:rPr>
              <a:t>Geopolítica</a:t>
            </a:r>
          </a:p>
        </p:txBody>
      </p:sp>
      <p:sp>
        <p:nvSpPr>
          <p:cNvPr id="18" name="TextBox 17"/>
          <p:cNvSpPr txBox="1"/>
          <p:nvPr/>
        </p:nvSpPr>
        <p:spPr>
          <a:xfrm>
            <a:off x="868680" y="2304288"/>
            <a:ext cx="6858000" cy="254000"/>
          </a:xfrm>
          <a:prstGeom prst="rect">
            <a:avLst/>
          </a:prstGeom>
          <a:noFill/>
        </p:spPr>
        <p:txBody>
          <a:bodyPr wrap="square">
            <a:spAutoFit/>
          </a:bodyPr>
          <a:lstStyle/>
          <a:p>
            <a:pPr algn="l"/>
            <a:r>
              <a:rPr sz="1000" b="0">
                <a:solidFill>
                  <a:srgbClr val="212121"/>
                </a:solidFill>
              </a:rPr>
              <a:t>Ken Griffin Gives $5 Million to GOP in First Midterm Donation</a:t>
            </a:r>
          </a:p>
        </p:txBody>
      </p:sp>
      <p:sp>
        <p:nvSpPr>
          <p:cNvPr id="19" name="Rectangle 18"/>
          <p:cNvSpPr/>
          <p:nvPr/>
        </p:nvSpPr>
        <p:spPr>
          <a:xfrm>
            <a:off x="274320" y="2587752"/>
            <a:ext cx="8595360" cy="475488"/>
          </a:xfrm>
          <a:prstGeom prst="rect">
            <a:avLst/>
          </a:prstGeom>
          <a:solidFill>
            <a:srgbClr val="EEF1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74320" y="2587752"/>
            <a:ext cx="502920" cy="47548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20" y="2663952"/>
            <a:ext cx="502920" cy="399288"/>
          </a:xfrm>
          <a:prstGeom prst="rect">
            <a:avLst/>
          </a:prstGeom>
          <a:noFill/>
        </p:spPr>
        <p:txBody>
          <a:bodyPr wrap="square">
            <a:spAutoFit/>
          </a:bodyPr>
          <a:lstStyle/>
          <a:p>
            <a:pPr algn="ctr"/>
            <a:r>
              <a:rPr sz="1100" b="1">
                <a:solidFill>
                  <a:srgbClr val="FFFFFF"/>
                </a:solidFill>
              </a:rPr>
              <a:t>5</a:t>
            </a:r>
          </a:p>
        </p:txBody>
      </p:sp>
      <p:sp>
        <p:nvSpPr>
          <p:cNvPr id="22" name="TextBox 21"/>
          <p:cNvSpPr txBox="1"/>
          <p:nvPr/>
        </p:nvSpPr>
        <p:spPr>
          <a:xfrm>
            <a:off x="868680" y="2638552"/>
            <a:ext cx="1280160" cy="177800"/>
          </a:xfrm>
          <a:prstGeom prst="rect">
            <a:avLst/>
          </a:prstGeom>
          <a:noFill/>
        </p:spPr>
        <p:txBody>
          <a:bodyPr wrap="square">
            <a:spAutoFit/>
          </a:bodyPr>
          <a:lstStyle/>
          <a:p>
            <a:pPr algn="l"/>
            <a:r>
              <a:rPr sz="900" b="1">
                <a:solidFill>
                  <a:srgbClr val="1A237E"/>
                </a:solidFill>
              </a:rPr>
              <a:t>Geopolítica</a:t>
            </a:r>
          </a:p>
        </p:txBody>
      </p:sp>
      <p:sp>
        <p:nvSpPr>
          <p:cNvPr id="23" name="TextBox 22"/>
          <p:cNvSpPr txBox="1"/>
          <p:nvPr/>
        </p:nvSpPr>
        <p:spPr>
          <a:xfrm>
            <a:off x="868680" y="2816352"/>
            <a:ext cx="6858000" cy="254000"/>
          </a:xfrm>
          <a:prstGeom prst="rect">
            <a:avLst/>
          </a:prstGeom>
          <a:noFill/>
        </p:spPr>
        <p:txBody>
          <a:bodyPr wrap="square">
            <a:spAutoFit/>
          </a:bodyPr>
          <a:lstStyle/>
          <a:p>
            <a:pPr algn="l"/>
            <a:r>
              <a:rPr sz="1000" b="0">
                <a:solidFill>
                  <a:srgbClr val="212121"/>
                </a:solidFill>
              </a:rPr>
              <a:t>What Turkey’s PoliticalDrama Means forErdogan and Markets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8229600" cy="594360"/>
          </a:xfrm>
          <a:prstGeom prst="rect">
            <a:avLst/>
          </a:prstGeom>
          <a:noFill/>
        </p:spPr>
        <p:txBody>
          <a:bodyPr wrap="square">
            <a:spAutoFit/>
          </a:bodyPr>
          <a:lstStyle/>
          <a:p>
            <a:pPr algn="l"/>
            <a:r>
              <a:rPr sz="2400" b="1">
                <a:solidFill>
                  <a:srgbClr val="FFFFFF"/>
                </a:solidFill>
              </a:rPr>
              <a:t>🌍  Geopolítica</a:t>
            </a:r>
          </a:p>
        </p:txBody>
      </p:sp>
      <p:sp>
        <p:nvSpPr>
          <p:cNvPr id="4" name="Rectangle 3"/>
          <p:cNvSpPr/>
          <p:nvPr/>
        </p:nvSpPr>
        <p:spPr>
          <a:xfrm>
            <a:off x="274320" y="1005840"/>
            <a:ext cx="859536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005840"/>
            <a:ext cx="54864" cy="123444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38160" y="1097280"/>
            <a:ext cx="640080" cy="27432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0" y="1097280"/>
            <a:ext cx="640080" cy="274320"/>
          </a:xfrm>
          <a:prstGeom prst="rect">
            <a:avLst/>
          </a:prstGeom>
          <a:noFill/>
        </p:spPr>
        <p:txBody>
          <a:bodyPr wrap="square">
            <a:spAutoFit/>
          </a:bodyPr>
          <a:lstStyle/>
          <a:p>
            <a:pPr algn="ctr"/>
            <a:r>
              <a:rPr sz="900" b="1">
                <a:solidFill>
                  <a:srgbClr val="FFFFFF"/>
                </a:solidFill>
              </a:rPr>
              <a:t>7/10</a:t>
            </a:r>
          </a:p>
        </p:txBody>
      </p:sp>
      <p:sp>
        <p:nvSpPr>
          <p:cNvPr id="8" name="TextBox 7"/>
          <p:cNvSpPr txBox="1"/>
          <p:nvPr/>
        </p:nvSpPr>
        <p:spPr>
          <a:xfrm>
            <a:off x="457200" y="1097280"/>
            <a:ext cx="7498080" cy="347472"/>
          </a:xfrm>
          <a:prstGeom prst="rect">
            <a:avLst/>
          </a:prstGeom>
          <a:noFill/>
        </p:spPr>
        <p:txBody>
          <a:bodyPr wrap="square">
            <a:spAutoFit/>
          </a:bodyPr>
          <a:lstStyle/>
          <a:p>
            <a:pPr algn="l"/>
            <a:r>
              <a:rPr sz="1100" b="1">
                <a:solidFill>
                  <a:srgbClr val="212121"/>
                </a:solidFill>
              </a:rPr>
              <a:t>Trump Tells Warsh to Do ‘Own Thing’ as Fed Chair Sworn In</a:t>
            </a:r>
          </a:p>
        </p:txBody>
      </p:sp>
      <p:sp>
        <p:nvSpPr>
          <p:cNvPr id="9" name="TextBox 8"/>
          <p:cNvSpPr txBox="1"/>
          <p:nvPr/>
        </p:nvSpPr>
        <p:spPr>
          <a:xfrm>
            <a:off x="457200" y="1444752"/>
            <a:ext cx="8321040" cy="502920"/>
          </a:xfrm>
          <a:prstGeom prst="rect">
            <a:avLst/>
          </a:prstGeom>
          <a:noFill/>
        </p:spPr>
        <p:txBody>
          <a:bodyPr wrap="square">
            <a:spAutoFit/>
          </a:bodyPr>
          <a:lstStyle/>
          <a:p>
            <a:pPr algn="l"/>
            <a:r>
              <a:rPr sz="900" b="0">
                <a:solidFill>
                  <a:srgbClr val="757575"/>
                </a:solidFill>
              </a:rPr>
              <a:t>President Donald Trump stressed that he wants Kevin Warsh to independently lead the Federal Reserve, as he looked to downplay investor concern that he would pre…</a:t>
            </a:r>
          </a:p>
        </p:txBody>
      </p:sp>
      <p:sp>
        <p:nvSpPr>
          <p:cNvPr id="10" name="TextBox 9"/>
          <p:cNvSpPr txBox="1"/>
          <p:nvPr/>
        </p:nvSpPr>
        <p:spPr>
          <a:xfrm>
            <a:off x="457200" y="1965960"/>
            <a:ext cx="3657600" cy="228600"/>
          </a:xfrm>
          <a:prstGeom prst="rect">
            <a:avLst/>
          </a:prstGeom>
          <a:noFill/>
        </p:spPr>
        <p:txBody>
          <a:bodyPr wrap="square">
            <a:spAutoFit/>
          </a:bodyPr>
          <a:lstStyle/>
          <a:p>
            <a:pPr algn="l"/>
            <a:r>
              <a:rPr sz="800" b="0">
                <a:solidFill>
                  <a:srgbClr val="757575"/>
                </a:solidFill>
              </a:rPr>
              <a:t>📰 feeds.bloomberg.com</a:t>
            </a:r>
          </a:p>
        </p:txBody>
      </p:sp>
      <p:sp>
        <p:nvSpPr>
          <p:cNvPr id="11" name="Rectangle 10"/>
          <p:cNvSpPr/>
          <p:nvPr/>
        </p:nvSpPr>
        <p:spPr>
          <a:xfrm>
            <a:off x="274320" y="2350008"/>
            <a:ext cx="859536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2350008"/>
            <a:ext cx="54864" cy="123444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138160" y="2441448"/>
            <a:ext cx="640080" cy="27432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0" y="2441448"/>
            <a:ext cx="640080" cy="274320"/>
          </a:xfrm>
          <a:prstGeom prst="rect">
            <a:avLst/>
          </a:prstGeom>
          <a:noFill/>
        </p:spPr>
        <p:txBody>
          <a:bodyPr wrap="square">
            <a:spAutoFit/>
          </a:bodyPr>
          <a:lstStyle/>
          <a:p>
            <a:pPr algn="ctr"/>
            <a:r>
              <a:rPr sz="900" b="1">
                <a:solidFill>
                  <a:srgbClr val="FFFFFF"/>
                </a:solidFill>
              </a:rPr>
              <a:t>7/10</a:t>
            </a:r>
          </a:p>
        </p:txBody>
      </p:sp>
      <p:sp>
        <p:nvSpPr>
          <p:cNvPr id="15" name="TextBox 14"/>
          <p:cNvSpPr txBox="1"/>
          <p:nvPr/>
        </p:nvSpPr>
        <p:spPr>
          <a:xfrm>
            <a:off x="457200" y="2441448"/>
            <a:ext cx="7498080" cy="347472"/>
          </a:xfrm>
          <a:prstGeom prst="rect">
            <a:avLst/>
          </a:prstGeom>
          <a:noFill/>
        </p:spPr>
        <p:txBody>
          <a:bodyPr wrap="square">
            <a:spAutoFit/>
          </a:bodyPr>
          <a:lstStyle/>
          <a:p>
            <a:pPr algn="l"/>
            <a:r>
              <a:rPr sz="1100" b="1">
                <a:solidFill>
                  <a:srgbClr val="212121"/>
                </a:solidFill>
              </a:rPr>
              <a:t>Trump Tells Warsh to 'Do Your Own Thing' at Fed</a:t>
            </a:r>
          </a:p>
        </p:txBody>
      </p:sp>
      <p:sp>
        <p:nvSpPr>
          <p:cNvPr id="16" name="TextBox 15"/>
          <p:cNvSpPr txBox="1"/>
          <p:nvPr/>
        </p:nvSpPr>
        <p:spPr>
          <a:xfrm>
            <a:off x="457200" y="2788920"/>
            <a:ext cx="8321040" cy="502920"/>
          </a:xfrm>
          <a:prstGeom prst="rect">
            <a:avLst/>
          </a:prstGeom>
          <a:noFill/>
        </p:spPr>
        <p:txBody>
          <a:bodyPr wrap="square">
            <a:spAutoFit/>
          </a:bodyPr>
          <a:lstStyle/>
          <a:p>
            <a:pPr algn="l"/>
            <a:r>
              <a:rPr sz="900" b="0">
                <a:solidFill>
                  <a:srgbClr val="757575"/>
                </a:solidFill>
              </a:rPr>
              <a:t>President Donald Trump says no one in the US is better prepared to lead the Federal Reserve than Kevin Warsh as he swears Warsh in at the White House as the 17t…</a:t>
            </a:r>
          </a:p>
        </p:txBody>
      </p:sp>
      <p:sp>
        <p:nvSpPr>
          <p:cNvPr id="17" name="TextBox 16"/>
          <p:cNvSpPr txBox="1"/>
          <p:nvPr/>
        </p:nvSpPr>
        <p:spPr>
          <a:xfrm>
            <a:off x="457200" y="3310128"/>
            <a:ext cx="3657600" cy="228600"/>
          </a:xfrm>
          <a:prstGeom prst="rect">
            <a:avLst/>
          </a:prstGeom>
          <a:noFill/>
        </p:spPr>
        <p:txBody>
          <a:bodyPr wrap="square">
            <a:spAutoFit/>
          </a:bodyPr>
          <a:lstStyle/>
          <a:p>
            <a:pPr algn="l"/>
            <a:r>
              <a:rPr sz="800" b="0">
                <a:solidFill>
                  <a:srgbClr val="757575"/>
                </a:solidFill>
              </a:rPr>
              <a:t>📰 feeds.bloomberg.com</a:t>
            </a:r>
          </a:p>
        </p:txBody>
      </p:sp>
      <p:sp>
        <p:nvSpPr>
          <p:cNvPr id="18" name="Rectangle 17"/>
          <p:cNvSpPr/>
          <p:nvPr/>
        </p:nvSpPr>
        <p:spPr>
          <a:xfrm>
            <a:off x="274320" y="3694176"/>
            <a:ext cx="859536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4320" y="3694176"/>
            <a:ext cx="54864" cy="12344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38160" y="3785616"/>
            <a:ext cx="640080" cy="2743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0" y="3785616"/>
            <a:ext cx="640080" cy="274320"/>
          </a:xfrm>
          <a:prstGeom prst="rect">
            <a:avLst/>
          </a:prstGeom>
          <a:noFill/>
        </p:spPr>
        <p:txBody>
          <a:bodyPr wrap="square">
            <a:spAutoFit/>
          </a:bodyPr>
          <a:lstStyle/>
          <a:p>
            <a:pPr algn="ctr"/>
            <a:r>
              <a:rPr sz="900" b="1">
                <a:solidFill>
                  <a:srgbClr val="FFFFFF"/>
                </a:solidFill>
              </a:rPr>
              <a:t>5/10</a:t>
            </a:r>
          </a:p>
        </p:txBody>
      </p:sp>
      <p:sp>
        <p:nvSpPr>
          <p:cNvPr id="22" name="TextBox 21"/>
          <p:cNvSpPr txBox="1"/>
          <p:nvPr/>
        </p:nvSpPr>
        <p:spPr>
          <a:xfrm>
            <a:off x="457200" y="3785616"/>
            <a:ext cx="7498080" cy="347472"/>
          </a:xfrm>
          <a:prstGeom prst="rect">
            <a:avLst/>
          </a:prstGeom>
          <a:noFill/>
        </p:spPr>
        <p:txBody>
          <a:bodyPr wrap="square">
            <a:spAutoFit/>
          </a:bodyPr>
          <a:lstStyle/>
          <a:p>
            <a:pPr algn="l"/>
            <a:r>
              <a:rPr sz="1100" b="1">
                <a:solidFill>
                  <a:srgbClr val="212121"/>
                </a:solidFill>
              </a:rPr>
              <a:t>What Turkey’s PoliticalDrama Means forErdogan and Markets</a:t>
            </a:r>
          </a:p>
        </p:txBody>
      </p:sp>
      <p:sp>
        <p:nvSpPr>
          <p:cNvPr id="23" name="TextBox 22"/>
          <p:cNvSpPr txBox="1"/>
          <p:nvPr/>
        </p:nvSpPr>
        <p:spPr>
          <a:xfrm>
            <a:off x="457200" y="4133088"/>
            <a:ext cx="8321040" cy="502920"/>
          </a:xfrm>
          <a:prstGeom prst="rect">
            <a:avLst/>
          </a:prstGeom>
          <a:noFill/>
        </p:spPr>
        <p:txBody>
          <a:bodyPr wrap="square">
            <a:spAutoFit/>
          </a:bodyPr>
          <a:lstStyle/>
          <a:p>
            <a:pPr algn="l"/>
            <a:r>
              <a:rPr sz="900" b="0">
                <a:solidFill>
                  <a:srgbClr val="757575"/>
                </a:solidFill>
              </a:rPr>
              <a:t>A Turkish court decision to remove the leadership of the country’s main opposition party caused the main index to tumble to its lowest in six weeks, then revers…</a:t>
            </a:r>
          </a:p>
        </p:txBody>
      </p:sp>
      <p:sp>
        <p:nvSpPr>
          <p:cNvPr id="24" name="TextBox 23"/>
          <p:cNvSpPr txBox="1"/>
          <p:nvPr/>
        </p:nvSpPr>
        <p:spPr>
          <a:xfrm>
            <a:off x="457200" y="4654296"/>
            <a:ext cx="3657600" cy="228600"/>
          </a:xfrm>
          <a:prstGeom prst="rect">
            <a:avLst/>
          </a:prstGeom>
          <a:noFill/>
        </p:spPr>
        <p:txBody>
          <a:bodyPr wrap="square">
            <a:spAutoFit/>
          </a:bodyPr>
          <a:lstStyle/>
          <a:p>
            <a:pPr algn="l"/>
            <a:r>
              <a:rPr sz="800" b="0">
                <a:solidFill>
                  <a:srgbClr val="757575"/>
                </a:solidFill>
              </a:rPr>
              <a:t>📰 feeds.bloomberg.com</a:t>
            </a:r>
          </a:p>
        </p:txBody>
      </p:sp>
      <p:sp>
        <p:nvSpPr>
          <p:cNvPr id="25" name="Rectangle 24"/>
          <p:cNvSpPr/>
          <p:nvPr/>
        </p:nvSpPr>
        <p:spPr>
          <a:xfrm>
            <a:off x="274320" y="5038344"/>
            <a:ext cx="859536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74320" y="5038344"/>
            <a:ext cx="54864" cy="123444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38160" y="5129784"/>
            <a:ext cx="640080" cy="27432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38160" y="5129784"/>
            <a:ext cx="640080" cy="274320"/>
          </a:xfrm>
          <a:prstGeom prst="rect">
            <a:avLst/>
          </a:prstGeom>
          <a:noFill/>
        </p:spPr>
        <p:txBody>
          <a:bodyPr wrap="square">
            <a:spAutoFit/>
          </a:bodyPr>
          <a:lstStyle/>
          <a:p>
            <a:pPr algn="ctr"/>
            <a:r>
              <a:rPr sz="900" b="1">
                <a:solidFill>
                  <a:srgbClr val="FFFFFF"/>
                </a:solidFill>
              </a:rPr>
              <a:t>7/10</a:t>
            </a:r>
          </a:p>
        </p:txBody>
      </p:sp>
      <p:sp>
        <p:nvSpPr>
          <p:cNvPr id="29" name="TextBox 28"/>
          <p:cNvSpPr txBox="1"/>
          <p:nvPr/>
        </p:nvSpPr>
        <p:spPr>
          <a:xfrm>
            <a:off x="457200" y="5129784"/>
            <a:ext cx="7498080" cy="347472"/>
          </a:xfrm>
          <a:prstGeom prst="rect">
            <a:avLst/>
          </a:prstGeom>
          <a:noFill/>
        </p:spPr>
        <p:txBody>
          <a:bodyPr wrap="square">
            <a:spAutoFit/>
          </a:bodyPr>
          <a:lstStyle/>
          <a:p>
            <a:pPr algn="l"/>
            <a:r>
              <a:rPr sz="1100" b="1">
                <a:solidFill>
                  <a:srgbClr val="212121"/>
                </a:solidFill>
              </a:rPr>
              <a:t>Ken Griffin Gives $5 Million to GOP in First Midterm Donation</a:t>
            </a:r>
          </a:p>
        </p:txBody>
      </p:sp>
      <p:sp>
        <p:nvSpPr>
          <p:cNvPr id="30" name="TextBox 29"/>
          <p:cNvSpPr txBox="1"/>
          <p:nvPr/>
        </p:nvSpPr>
        <p:spPr>
          <a:xfrm>
            <a:off x="457200" y="5477256"/>
            <a:ext cx="8321040" cy="502920"/>
          </a:xfrm>
          <a:prstGeom prst="rect">
            <a:avLst/>
          </a:prstGeom>
          <a:noFill/>
        </p:spPr>
        <p:txBody>
          <a:bodyPr wrap="square">
            <a:spAutoFit/>
          </a:bodyPr>
          <a:lstStyle/>
          <a:p>
            <a:pPr algn="l"/>
            <a:r>
              <a:rPr sz="900" b="0">
                <a:solidFill>
                  <a:srgbClr val="757575"/>
                </a:solidFill>
              </a:rPr>
              <a:t>Ken Griffin, one of the biggest political donors in recent election cycles, has made his first federal contribution for the 2026 midterm races.</a:t>
            </a:r>
          </a:p>
        </p:txBody>
      </p:sp>
      <p:sp>
        <p:nvSpPr>
          <p:cNvPr id="31" name="TextBox 30"/>
          <p:cNvSpPr txBox="1"/>
          <p:nvPr/>
        </p:nvSpPr>
        <p:spPr>
          <a:xfrm>
            <a:off x="457200" y="5998464"/>
            <a:ext cx="3657600" cy="228600"/>
          </a:xfrm>
          <a:prstGeom prst="rect">
            <a:avLst/>
          </a:prstGeom>
          <a:noFill/>
        </p:spPr>
        <p:txBody>
          <a:bodyPr wrap="square">
            <a:spAutoFit/>
          </a:bodyPr>
          <a:lstStyle/>
          <a:p>
            <a:pPr algn="l"/>
            <a:r>
              <a:rPr sz="800" b="0">
                <a:solidFill>
                  <a:srgbClr val="757575"/>
                </a:solidFill>
              </a:rPr>
              <a:t>📰 feeds.bloomberg.com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2835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8229600" cy="594360"/>
          </a:xfrm>
          <a:prstGeom prst="rect">
            <a:avLst/>
          </a:prstGeom>
          <a:noFill/>
        </p:spPr>
        <p:txBody>
          <a:bodyPr wrap="square">
            <a:spAutoFit/>
          </a:bodyPr>
          <a:lstStyle/>
          <a:p>
            <a:pPr algn="l"/>
            <a:r>
              <a:rPr sz="2400" b="1">
                <a:solidFill>
                  <a:srgbClr val="FFFFFF"/>
                </a:solidFill>
              </a:rPr>
              <a:t>💹  Economía Global</a:t>
            </a:r>
          </a:p>
        </p:txBody>
      </p:sp>
      <p:sp>
        <p:nvSpPr>
          <p:cNvPr id="4" name="TextBox 3"/>
          <p:cNvSpPr txBox="1"/>
          <p:nvPr/>
        </p:nvSpPr>
        <p:spPr>
          <a:xfrm>
            <a:off x="457200" y="1371600"/>
            <a:ext cx="8229600" cy="914400"/>
          </a:xfrm>
          <a:prstGeom prst="rect">
            <a:avLst/>
          </a:prstGeom>
          <a:noFill/>
        </p:spPr>
        <p:txBody>
          <a:bodyPr wrap="square">
            <a:spAutoFit/>
          </a:bodyPr>
          <a:lstStyle/>
          <a:p>
            <a:pPr algn="l"/>
            <a:r>
              <a:rPr sz="1300" b="0">
                <a:solidFill>
                  <a:srgbClr val="757575"/>
                </a:solidFill>
              </a:rPr>
              <a:t>Sin noticias disponibles para esta categoría.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8229600" cy="594360"/>
          </a:xfrm>
          <a:prstGeom prst="rect">
            <a:avLst/>
          </a:prstGeom>
          <a:noFill/>
        </p:spPr>
        <p:txBody>
          <a:bodyPr wrap="square">
            <a:spAutoFit/>
          </a:bodyPr>
          <a:lstStyle/>
          <a:p>
            <a:pPr algn="l"/>
            <a:r>
              <a:rPr sz="2400" b="1">
                <a:solidFill>
                  <a:srgbClr val="FFFFFF"/>
                </a:solidFill>
              </a:rPr>
              <a:t>🇨🇱  Chile Estratégico</a:t>
            </a:r>
          </a:p>
        </p:txBody>
      </p:sp>
      <p:sp>
        <p:nvSpPr>
          <p:cNvPr id="4" name="TextBox 3"/>
          <p:cNvSpPr txBox="1"/>
          <p:nvPr/>
        </p:nvSpPr>
        <p:spPr>
          <a:xfrm>
            <a:off x="457200" y="1371600"/>
            <a:ext cx="8229600" cy="914400"/>
          </a:xfrm>
          <a:prstGeom prst="rect">
            <a:avLst/>
          </a:prstGeom>
          <a:noFill/>
        </p:spPr>
        <p:txBody>
          <a:bodyPr wrap="square">
            <a:spAutoFit/>
          </a:bodyPr>
          <a:lstStyle/>
          <a:p>
            <a:pPr algn="l"/>
            <a:r>
              <a:rPr sz="1300" b="0">
                <a:solidFill>
                  <a:srgbClr val="757575"/>
                </a:solidFill>
              </a:rPr>
              <a:t>Sin noticias disponibles para esta categoría.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006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8229600" cy="594360"/>
          </a:xfrm>
          <a:prstGeom prst="rect">
            <a:avLst/>
          </a:prstGeom>
          <a:noFill/>
        </p:spPr>
        <p:txBody>
          <a:bodyPr wrap="square">
            <a:spAutoFit/>
          </a:bodyPr>
          <a:lstStyle/>
          <a:p>
            <a:pPr algn="l"/>
            <a:r>
              <a:rPr sz="2400" b="1">
                <a:solidFill>
                  <a:srgbClr val="FFFFFF"/>
                </a:solidFill>
              </a:rPr>
              <a:t>🤝  Cooperativismo</a:t>
            </a:r>
          </a:p>
        </p:txBody>
      </p:sp>
      <p:sp>
        <p:nvSpPr>
          <p:cNvPr id="4" name="TextBox 3"/>
          <p:cNvSpPr txBox="1"/>
          <p:nvPr/>
        </p:nvSpPr>
        <p:spPr>
          <a:xfrm>
            <a:off x="457200" y="1371600"/>
            <a:ext cx="8229600" cy="914400"/>
          </a:xfrm>
          <a:prstGeom prst="rect">
            <a:avLst/>
          </a:prstGeom>
          <a:noFill/>
        </p:spPr>
        <p:txBody>
          <a:bodyPr wrap="square">
            <a:spAutoFit/>
          </a:bodyPr>
          <a:lstStyle/>
          <a:p>
            <a:pPr algn="l"/>
            <a:r>
              <a:rPr sz="1300" b="0">
                <a:solidFill>
                  <a:srgbClr val="757575"/>
                </a:solidFill>
              </a:rPr>
              <a:t>Sin noticias disponibles para esta categoría.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311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8229600" cy="594360"/>
          </a:xfrm>
          <a:prstGeom prst="rect">
            <a:avLst/>
          </a:prstGeom>
          <a:noFill/>
        </p:spPr>
        <p:txBody>
          <a:bodyPr wrap="square">
            <a:spAutoFit/>
          </a:bodyPr>
          <a:lstStyle/>
          <a:p>
            <a:pPr algn="l"/>
            <a:r>
              <a:rPr sz="2400" b="1">
                <a:solidFill>
                  <a:srgbClr val="FFFFFF"/>
                </a:solidFill>
              </a:rPr>
              <a:t>🏛  CMF / Regulación</a:t>
            </a:r>
          </a:p>
        </p:txBody>
      </p:sp>
      <p:sp>
        <p:nvSpPr>
          <p:cNvPr id="4" name="TextBox 3"/>
          <p:cNvSpPr txBox="1"/>
          <p:nvPr/>
        </p:nvSpPr>
        <p:spPr>
          <a:xfrm>
            <a:off x="457200" y="1371600"/>
            <a:ext cx="8229600" cy="914400"/>
          </a:xfrm>
          <a:prstGeom prst="rect">
            <a:avLst/>
          </a:prstGeom>
          <a:noFill/>
        </p:spPr>
        <p:txBody>
          <a:bodyPr wrap="square">
            <a:spAutoFit/>
          </a:bodyPr>
          <a:lstStyle/>
          <a:p>
            <a:pPr algn="l"/>
            <a:r>
              <a:rPr sz="1300" b="0">
                <a:solidFill>
                  <a:srgbClr val="757575"/>
                </a:solidFill>
              </a:rPr>
              <a:t>Sin noticias disponibles para esta categoría.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8229600" cy="594360"/>
          </a:xfrm>
          <a:prstGeom prst="rect">
            <a:avLst/>
          </a:prstGeom>
          <a:noFill/>
        </p:spPr>
        <p:txBody>
          <a:bodyPr wrap="square">
            <a:spAutoFit/>
          </a:bodyPr>
          <a:lstStyle/>
          <a:p>
            <a:pPr algn="l"/>
            <a:r>
              <a:rPr sz="2400" b="1">
                <a:solidFill>
                  <a:srgbClr val="FFFFFF"/>
                </a:solidFill>
              </a:rPr>
              <a:t>📈  Mercados</a:t>
            </a:r>
          </a:p>
        </p:txBody>
      </p:sp>
      <p:sp>
        <p:nvSpPr>
          <p:cNvPr id="4" name="TextBox 3"/>
          <p:cNvSpPr txBox="1"/>
          <p:nvPr/>
        </p:nvSpPr>
        <p:spPr>
          <a:xfrm>
            <a:off x="457200" y="1371600"/>
            <a:ext cx="8229600" cy="914400"/>
          </a:xfrm>
          <a:prstGeom prst="rect">
            <a:avLst/>
          </a:prstGeom>
          <a:noFill/>
        </p:spPr>
        <p:txBody>
          <a:bodyPr wrap="square">
            <a:spAutoFit/>
          </a:bodyPr>
          <a:lstStyle/>
          <a:p>
            <a:pPr algn="l"/>
            <a:r>
              <a:rPr sz="1300" b="0">
                <a:solidFill>
                  <a:srgbClr val="757575"/>
                </a:solidFill>
              </a:rPr>
              <a:t>Sin noticias disponibles para esta categoría.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8229600" cy="594360"/>
          </a:xfrm>
          <a:prstGeom prst="rect">
            <a:avLst/>
          </a:prstGeom>
          <a:noFill/>
        </p:spPr>
        <p:txBody>
          <a:bodyPr wrap="square">
            <a:spAutoFit/>
          </a:bodyPr>
          <a:lstStyle/>
          <a:p>
            <a:pPr algn="l"/>
            <a:r>
              <a:rPr sz="2400" b="1">
                <a:solidFill>
                  <a:srgbClr val="FFFFFF"/>
                </a:solidFill>
              </a:rPr>
              <a:t>🚀  Tendencias Tech</a:t>
            </a:r>
          </a:p>
        </p:txBody>
      </p:sp>
      <p:sp>
        <p:nvSpPr>
          <p:cNvPr id="4" name="TextBox 3"/>
          <p:cNvSpPr txBox="1"/>
          <p:nvPr/>
        </p:nvSpPr>
        <p:spPr>
          <a:xfrm>
            <a:off x="457200" y="1371600"/>
            <a:ext cx="8229600" cy="914400"/>
          </a:xfrm>
          <a:prstGeom prst="rect">
            <a:avLst/>
          </a:prstGeom>
          <a:noFill/>
        </p:spPr>
        <p:txBody>
          <a:bodyPr wrap="square">
            <a:spAutoFit/>
          </a:bodyPr>
          <a:lstStyle/>
          <a:p>
            <a:pPr algn="l"/>
            <a:r>
              <a:rPr sz="1300" b="0">
                <a:solidFill>
                  <a:srgbClr val="757575"/>
                </a:solidFill>
              </a:rPr>
              <a:t>Sin noticias disponibles para esta categoría.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004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8229600" cy="594360"/>
          </a:xfrm>
          <a:prstGeom prst="rect">
            <a:avLst/>
          </a:prstGeom>
          <a:noFill/>
        </p:spPr>
        <p:txBody>
          <a:bodyPr wrap="square">
            <a:spAutoFit/>
          </a:bodyPr>
          <a:lstStyle/>
          <a:p>
            <a:pPr algn="l"/>
            <a:r>
              <a:rPr sz="2400" b="1">
                <a:solidFill>
                  <a:srgbClr val="FFFFFF"/>
                </a:solidFill>
              </a:rPr>
              <a:t>🤖  Inteligencia Artificial</a:t>
            </a:r>
          </a:p>
        </p:txBody>
      </p:sp>
      <p:sp>
        <p:nvSpPr>
          <p:cNvPr id="4" name="TextBox 3"/>
          <p:cNvSpPr txBox="1"/>
          <p:nvPr/>
        </p:nvSpPr>
        <p:spPr>
          <a:xfrm>
            <a:off x="457200" y="1371600"/>
            <a:ext cx="8229600" cy="914400"/>
          </a:xfrm>
          <a:prstGeom prst="rect">
            <a:avLst/>
          </a:prstGeom>
          <a:noFill/>
        </p:spPr>
        <p:txBody>
          <a:bodyPr wrap="square">
            <a:spAutoFit/>
          </a:bodyPr>
          <a:lstStyle/>
          <a:p>
            <a:pPr algn="l"/>
            <a:r>
              <a:rPr sz="1300" b="0">
                <a:solidFill>
                  <a:srgbClr val="757575"/>
                </a:solidFill>
              </a:rPr>
              <a:t>Sin noticias disponibles para esta categoría.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7315200" cy="731520"/>
          </a:xfrm>
          <a:prstGeom prst="rect">
            <a:avLst/>
          </a:prstGeom>
          <a:noFill/>
        </p:spPr>
        <p:txBody>
          <a:bodyPr wrap="square">
            <a:spAutoFit/>
          </a:bodyPr>
          <a:lstStyle/>
          <a:p>
            <a:pPr algn="ctr"/>
            <a:r>
              <a:rPr sz="4800" b="0">
                <a:solidFill>
                  <a:srgbClr val="FFFFFF"/>
                </a:solidFill>
              </a:rPr>
              <a:t>📊</a:t>
            </a:r>
          </a:p>
        </p:txBody>
      </p:sp>
      <p:sp>
        <p:nvSpPr>
          <p:cNvPr id="4" name="TextBox 3"/>
          <p:cNvSpPr txBox="1"/>
          <p:nvPr/>
        </p:nvSpPr>
        <p:spPr>
          <a:xfrm>
            <a:off x="914400" y="2377440"/>
            <a:ext cx="7315200" cy="640080"/>
          </a:xfrm>
          <a:prstGeom prst="rect">
            <a:avLst/>
          </a:prstGeom>
          <a:noFill/>
        </p:spPr>
        <p:txBody>
          <a:bodyPr wrap="square">
            <a:spAutoFit/>
          </a:bodyPr>
          <a:lstStyle/>
          <a:p>
            <a:pPr algn="ctr"/>
            <a:r>
              <a:rPr sz="2800" b="1">
                <a:solidFill>
                  <a:srgbClr val="FFFFFF"/>
                </a:solidFill>
              </a:rPr>
              <a:t>4 noticias analizadas</a:t>
            </a:r>
          </a:p>
        </p:txBody>
      </p:sp>
      <p:sp>
        <p:nvSpPr>
          <p:cNvPr id="5" name="TextBox 4"/>
          <p:cNvSpPr txBox="1"/>
          <p:nvPr/>
        </p:nvSpPr>
        <p:spPr>
          <a:xfrm>
            <a:off x="914400" y="3108960"/>
            <a:ext cx="7315200" cy="457200"/>
          </a:xfrm>
          <a:prstGeom prst="rect">
            <a:avLst/>
          </a:prstGeom>
          <a:noFill/>
        </p:spPr>
        <p:txBody>
          <a:bodyPr wrap="square">
            <a:spAutoFit/>
          </a:bodyPr>
          <a:lstStyle/>
          <a:p>
            <a:pPr algn="ctr"/>
            <a:r>
              <a:rPr sz="1400" b="0">
                <a:solidFill>
                  <a:srgbClr val="00897B"/>
                </a:solidFill>
              </a:rPr>
              <a:t>Edición 22 de Mayo de 2026</a:t>
            </a:r>
          </a:p>
        </p:txBody>
      </p:sp>
      <p:sp>
        <p:nvSpPr>
          <p:cNvPr id="6" name="TextBox 5"/>
          <p:cNvSpPr txBox="1"/>
          <p:nvPr/>
        </p:nvSpPr>
        <p:spPr>
          <a:xfrm>
            <a:off x="914400" y="3749039"/>
            <a:ext cx="7315200" cy="457200"/>
          </a:xfrm>
          <a:prstGeom prst="rect">
            <a:avLst/>
          </a:prstGeom>
          <a:noFill/>
        </p:spPr>
        <p:txBody>
          <a:bodyPr wrap="square">
            <a:spAutoFit/>
          </a:bodyPr>
          <a:lstStyle/>
          <a:p>
            <a:pPr algn="ctr"/>
            <a:r>
              <a:rPr sz="1200" b="0">
                <a:solidFill>
                  <a:srgbClr val="BBC7FF"/>
                </a:solidFill>
              </a:rPr>
              <a:t>erickfranciscohernandez.github.io/financiero</a:t>
            </a:r>
          </a:p>
        </p:txBody>
      </p:sp>
      <p:sp>
        <p:nvSpPr>
          <p:cNvPr id="7" name="Rectangle 6"/>
          <p:cNvSpPr/>
          <p:nvPr/>
        </p:nvSpPr>
        <p:spPr>
          <a:xfrm>
            <a:off x="0" y="4325112"/>
            <a:ext cx="9144000" cy="822960"/>
          </a:xfrm>
          <a:prstGeom prst="rect">
            <a:avLst/>
          </a:prstGeom>
          <a:solidFill>
            <a:srgbClr val="2835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4462272"/>
            <a:ext cx="8229600" cy="502920"/>
          </a:xfrm>
          <a:prstGeom prst="rect">
            <a:avLst/>
          </a:prstGeom>
          <a:noFill/>
        </p:spPr>
        <p:txBody>
          <a:bodyPr wrap="square">
            <a:spAutoFit/>
          </a:bodyPr>
          <a:lstStyle/>
          <a:p>
            <a:pPr algn="ctr"/>
            <a:r>
              <a:rPr sz="1000" b="0">
                <a:solidFill>
                  <a:srgbClr val="BBC7FF"/>
                </a:solidFill>
              </a:rPr>
              <a:t>Newsletter Estratégico Financiero · Generado automáticamente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