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144000" cy="5148072"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Rectangle 1"/>
          <p:cNvSpPr/>
          <p:nvPr/>
        </p:nvSpPr>
        <p:spPr>
          <a:xfrm>
            <a:off x="0" y="0"/>
            <a:ext cx="9144000" cy="109728"/>
          </a:xfrm>
          <a:prstGeom prst="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645920"/>
            <a:ext cx="7315200" cy="1097280"/>
          </a:xfrm>
          <a:prstGeom prst="rect">
            <a:avLst/>
          </a:prstGeom>
          <a:noFill/>
        </p:spPr>
        <p:txBody>
          <a:bodyPr wrap="square">
            <a:spAutoFit/>
          </a:bodyPr>
          <a:lstStyle/>
          <a:p>
            <a:pPr algn="ctr"/>
            <a:r>
              <a:rPr sz="3600" b="1">
                <a:solidFill>
                  <a:srgbClr val="FFFFFF"/>
                </a:solidFill>
              </a:rPr>
              <a:t>Newsletter Estratégico Financiero</a:t>
            </a:r>
          </a:p>
        </p:txBody>
      </p:sp>
      <p:sp>
        <p:nvSpPr>
          <p:cNvPr id="4" name="TextBox 3"/>
          <p:cNvSpPr txBox="1"/>
          <p:nvPr/>
        </p:nvSpPr>
        <p:spPr>
          <a:xfrm>
            <a:off x="914400" y="2834640"/>
            <a:ext cx="7315200" cy="548640"/>
          </a:xfrm>
          <a:prstGeom prst="rect">
            <a:avLst/>
          </a:prstGeom>
          <a:noFill/>
        </p:spPr>
        <p:txBody>
          <a:bodyPr wrap="square">
            <a:spAutoFit/>
          </a:bodyPr>
          <a:lstStyle/>
          <a:p>
            <a:pPr algn="ctr"/>
            <a:r>
              <a:rPr sz="1600" b="0">
                <a:solidFill>
                  <a:srgbClr val="BBC7FF"/>
                </a:solidFill>
              </a:rPr>
              <a:t>Análisis diario · Geopolítica · Economía · Mercados · IA</a:t>
            </a:r>
          </a:p>
        </p:txBody>
      </p:sp>
      <p:sp>
        <p:nvSpPr>
          <p:cNvPr id="5" name="TextBox 4"/>
          <p:cNvSpPr txBox="1"/>
          <p:nvPr/>
        </p:nvSpPr>
        <p:spPr>
          <a:xfrm>
            <a:off x="914400" y="3566160"/>
            <a:ext cx="7315200" cy="457200"/>
          </a:xfrm>
          <a:prstGeom prst="rect">
            <a:avLst/>
          </a:prstGeom>
          <a:noFill/>
        </p:spPr>
        <p:txBody>
          <a:bodyPr wrap="square">
            <a:spAutoFit/>
          </a:bodyPr>
          <a:lstStyle/>
          <a:p>
            <a:pPr algn="ctr"/>
            <a:r>
              <a:rPr sz="1400" b="1">
                <a:solidFill>
                  <a:srgbClr val="00897B"/>
                </a:solidFill>
              </a:rPr>
              <a:t>22 de Mayo de 2026</a:t>
            </a:r>
          </a:p>
        </p:txBody>
      </p:sp>
      <p:sp>
        <p:nvSpPr>
          <p:cNvPr id="6" name="Rectangle 5"/>
          <p:cNvSpPr/>
          <p:nvPr/>
        </p:nvSpPr>
        <p:spPr>
          <a:xfrm>
            <a:off x="0" y="4325112"/>
            <a:ext cx="9144000" cy="822960"/>
          </a:xfrm>
          <a:prstGeom prst="rect">
            <a:avLst/>
          </a:prstGeom>
          <a:solidFill>
            <a:srgbClr val="2835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416552"/>
            <a:ext cx="8229600" cy="548640"/>
          </a:xfrm>
          <a:prstGeom prst="rect">
            <a:avLst/>
          </a:prstGeom>
          <a:noFill/>
        </p:spPr>
        <p:txBody>
          <a:bodyPr wrap="square">
            <a:spAutoFit/>
          </a:bodyPr>
          <a:lstStyle/>
          <a:p>
            <a:pPr algn="ctr"/>
            <a:r>
              <a:rPr sz="1100" b="0">
                <a:solidFill>
                  <a:srgbClr val="BBC7FF"/>
                </a:solidFill>
              </a:rPr>
              <a:t>erickfranciscohernandez.github.io/financiero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82880"/>
            <a:ext cx="8229600" cy="548640"/>
          </a:xfrm>
          <a:prstGeom prst="rect">
            <a:avLst/>
          </a:prstGeom>
          <a:noFill/>
        </p:spPr>
        <p:txBody>
          <a:bodyPr wrap="square">
            <a:spAutoFit/>
          </a:bodyPr>
          <a:lstStyle/>
          <a:p>
            <a:pPr algn="l"/>
            <a:r>
              <a:rPr sz="2200" b="1">
                <a:solidFill>
                  <a:srgbClr val="FFFFFF"/>
                </a:solidFill>
              </a:rPr>
              <a:t>📋  Resumen Ejecutivo</a:t>
            </a:r>
          </a:p>
        </p:txBody>
      </p:sp>
      <p:sp>
        <p:nvSpPr>
          <p:cNvPr id="4" name="Rectangle 3"/>
          <p:cNvSpPr/>
          <p:nvPr/>
        </p:nvSpPr>
        <p:spPr>
          <a:xfrm>
            <a:off x="274320" y="1051560"/>
            <a:ext cx="859536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051560"/>
            <a:ext cx="502920" cy="475488"/>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1127760"/>
            <a:ext cx="502920" cy="399288"/>
          </a:xfrm>
          <a:prstGeom prst="rect">
            <a:avLst/>
          </a:prstGeom>
          <a:noFill/>
        </p:spPr>
        <p:txBody>
          <a:bodyPr wrap="square">
            <a:spAutoFit/>
          </a:bodyPr>
          <a:lstStyle/>
          <a:p>
            <a:pPr algn="ctr"/>
            <a:r>
              <a:rPr sz="1100" b="1">
                <a:solidFill>
                  <a:srgbClr val="FFFFFF"/>
                </a:solidFill>
              </a:rPr>
              <a:t>7</a:t>
            </a:r>
          </a:p>
        </p:txBody>
      </p:sp>
      <p:sp>
        <p:nvSpPr>
          <p:cNvPr id="7" name="TextBox 6"/>
          <p:cNvSpPr txBox="1"/>
          <p:nvPr/>
        </p:nvSpPr>
        <p:spPr>
          <a:xfrm>
            <a:off x="868680" y="1102360"/>
            <a:ext cx="1280160" cy="177800"/>
          </a:xfrm>
          <a:prstGeom prst="rect">
            <a:avLst/>
          </a:prstGeom>
          <a:noFill/>
        </p:spPr>
        <p:txBody>
          <a:bodyPr wrap="square">
            <a:spAutoFit/>
          </a:bodyPr>
          <a:lstStyle/>
          <a:p>
            <a:pPr algn="l"/>
            <a:r>
              <a:rPr sz="900" b="1">
                <a:solidFill>
                  <a:srgbClr val="1A237E"/>
                </a:solidFill>
              </a:rPr>
              <a:t>Cooperativismo</a:t>
            </a:r>
          </a:p>
        </p:txBody>
      </p:sp>
      <p:sp>
        <p:nvSpPr>
          <p:cNvPr id="8" name="TextBox 7"/>
          <p:cNvSpPr txBox="1"/>
          <p:nvPr/>
        </p:nvSpPr>
        <p:spPr>
          <a:xfrm>
            <a:off x="868680" y="1280160"/>
            <a:ext cx="6858000" cy="254000"/>
          </a:xfrm>
          <a:prstGeom prst="rect">
            <a:avLst/>
          </a:prstGeom>
          <a:noFill/>
        </p:spPr>
        <p:txBody>
          <a:bodyPr wrap="square">
            <a:spAutoFit/>
          </a:bodyPr>
          <a:lstStyle/>
          <a:p>
            <a:pPr algn="l"/>
            <a:r>
              <a:rPr sz="1000" b="0">
                <a:solidFill>
                  <a:srgbClr val="212121"/>
                </a:solidFill>
              </a:rPr>
              <a:t>Nuevo aumento confirmado para empleados de comercio: quiénes lo cobran y de cuánto es la suba</a:t>
            </a:r>
          </a:p>
        </p:txBody>
      </p:sp>
      <p:sp>
        <p:nvSpPr>
          <p:cNvPr id="9" name="Rectangle 8"/>
          <p:cNvSpPr/>
          <p:nvPr/>
        </p:nvSpPr>
        <p:spPr>
          <a:xfrm>
            <a:off x="274320" y="1563624"/>
            <a:ext cx="8595360" cy="475488"/>
          </a:xfrm>
          <a:prstGeom prst="rect">
            <a:avLst/>
          </a:prstGeom>
          <a:solidFill>
            <a:srgbClr val="EEF1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1563624"/>
            <a:ext cx="502920" cy="47548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4320" y="1639824"/>
            <a:ext cx="502920" cy="399288"/>
          </a:xfrm>
          <a:prstGeom prst="rect">
            <a:avLst/>
          </a:prstGeom>
          <a:noFill/>
        </p:spPr>
        <p:txBody>
          <a:bodyPr wrap="square">
            <a:spAutoFit/>
          </a:bodyPr>
          <a:lstStyle/>
          <a:p>
            <a:pPr algn="ctr"/>
            <a:r>
              <a:rPr sz="1100" b="1">
                <a:solidFill>
                  <a:srgbClr val="FFFFFF"/>
                </a:solidFill>
              </a:rPr>
              <a:t>5</a:t>
            </a:r>
          </a:p>
        </p:txBody>
      </p:sp>
      <p:sp>
        <p:nvSpPr>
          <p:cNvPr id="12" name="TextBox 11"/>
          <p:cNvSpPr txBox="1"/>
          <p:nvPr/>
        </p:nvSpPr>
        <p:spPr>
          <a:xfrm>
            <a:off x="868680" y="1614424"/>
            <a:ext cx="1280160" cy="177800"/>
          </a:xfrm>
          <a:prstGeom prst="rect">
            <a:avLst/>
          </a:prstGeom>
          <a:noFill/>
        </p:spPr>
        <p:txBody>
          <a:bodyPr wrap="square">
            <a:spAutoFit/>
          </a:bodyPr>
          <a:lstStyle/>
          <a:p>
            <a:pPr algn="l"/>
            <a:r>
              <a:rPr sz="900" b="1">
                <a:solidFill>
                  <a:srgbClr val="1A237E"/>
                </a:solidFill>
              </a:rPr>
              <a:t>Geopolítica</a:t>
            </a:r>
          </a:p>
        </p:txBody>
      </p:sp>
      <p:sp>
        <p:nvSpPr>
          <p:cNvPr id="13" name="TextBox 12"/>
          <p:cNvSpPr txBox="1"/>
          <p:nvPr/>
        </p:nvSpPr>
        <p:spPr>
          <a:xfrm>
            <a:off x="868680" y="1792224"/>
            <a:ext cx="6858000" cy="254000"/>
          </a:xfrm>
          <a:prstGeom prst="rect">
            <a:avLst/>
          </a:prstGeom>
          <a:noFill/>
        </p:spPr>
        <p:txBody>
          <a:bodyPr wrap="square">
            <a:spAutoFit/>
          </a:bodyPr>
          <a:lstStyle/>
          <a:p>
            <a:pPr algn="l"/>
            <a:r>
              <a:rPr sz="1000" b="0">
                <a:solidFill>
                  <a:srgbClr val="212121"/>
                </a:solidFill>
              </a:rPr>
              <a:t>Sevilla acogerá en 2028 una nueva edición de ADM tras superar las 400 empresas</a:t>
            </a:r>
          </a:p>
        </p:txBody>
      </p:sp>
      <p:sp>
        <p:nvSpPr>
          <p:cNvPr id="14" name="Rectangle 13"/>
          <p:cNvSpPr/>
          <p:nvPr/>
        </p:nvSpPr>
        <p:spPr>
          <a:xfrm>
            <a:off x="274320" y="2075688"/>
            <a:ext cx="859536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 y="2075688"/>
            <a:ext cx="502920" cy="47548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 y="2151888"/>
            <a:ext cx="502920" cy="399288"/>
          </a:xfrm>
          <a:prstGeom prst="rect">
            <a:avLst/>
          </a:prstGeom>
          <a:noFill/>
        </p:spPr>
        <p:txBody>
          <a:bodyPr wrap="square">
            <a:spAutoFit/>
          </a:bodyPr>
          <a:lstStyle/>
          <a:p>
            <a:pPr algn="ctr"/>
            <a:r>
              <a:rPr sz="1100" b="1">
                <a:solidFill>
                  <a:srgbClr val="FFFFFF"/>
                </a:solidFill>
              </a:rPr>
              <a:t>5</a:t>
            </a:r>
          </a:p>
        </p:txBody>
      </p:sp>
      <p:sp>
        <p:nvSpPr>
          <p:cNvPr id="17" name="TextBox 16"/>
          <p:cNvSpPr txBox="1"/>
          <p:nvPr/>
        </p:nvSpPr>
        <p:spPr>
          <a:xfrm>
            <a:off x="868680" y="2126488"/>
            <a:ext cx="1280160" cy="177800"/>
          </a:xfrm>
          <a:prstGeom prst="rect">
            <a:avLst/>
          </a:prstGeom>
          <a:noFill/>
        </p:spPr>
        <p:txBody>
          <a:bodyPr wrap="square">
            <a:spAutoFit/>
          </a:bodyPr>
          <a:lstStyle/>
          <a:p>
            <a:pPr algn="l"/>
            <a:r>
              <a:rPr sz="900" b="1">
                <a:solidFill>
                  <a:srgbClr val="1A237E"/>
                </a:solidFill>
              </a:rPr>
              <a:t>Geopolítica</a:t>
            </a:r>
          </a:p>
        </p:txBody>
      </p:sp>
      <p:sp>
        <p:nvSpPr>
          <p:cNvPr id="18" name="TextBox 17"/>
          <p:cNvSpPr txBox="1"/>
          <p:nvPr/>
        </p:nvSpPr>
        <p:spPr>
          <a:xfrm>
            <a:off x="868680" y="2304288"/>
            <a:ext cx="6858000" cy="254000"/>
          </a:xfrm>
          <a:prstGeom prst="rect">
            <a:avLst/>
          </a:prstGeom>
          <a:noFill/>
        </p:spPr>
        <p:txBody>
          <a:bodyPr wrap="square">
            <a:spAutoFit/>
          </a:bodyPr>
          <a:lstStyle/>
          <a:p>
            <a:pPr algn="l"/>
            <a:r>
              <a:rPr sz="1000" b="0">
                <a:solidFill>
                  <a:srgbClr val="212121"/>
                </a:solidFill>
              </a:rPr>
              <a:t>Resumen del Warhammer Skulls 2026: más Space Marine 2, Helldivers 2, demo de Boltgun II, sorpre…</a:t>
            </a:r>
          </a:p>
        </p:txBody>
      </p:sp>
      <p:sp>
        <p:nvSpPr>
          <p:cNvPr id="19" name="Rectangle 18"/>
          <p:cNvSpPr/>
          <p:nvPr/>
        </p:nvSpPr>
        <p:spPr>
          <a:xfrm>
            <a:off x="274320" y="2587752"/>
            <a:ext cx="8595360" cy="475488"/>
          </a:xfrm>
          <a:prstGeom prst="rect">
            <a:avLst/>
          </a:prstGeom>
          <a:solidFill>
            <a:srgbClr val="EEF1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74320" y="2587752"/>
            <a:ext cx="502920" cy="47548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4320" y="2663952"/>
            <a:ext cx="502920" cy="399288"/>
          </a:xfrm>
          <a:prstGeom prst="rect">
            <a:avLst/>
          </a:prstGeom>
          <a:noFill/>
        </p:spPr>
        <p:txBody>
          <a:bodyPr wrap="square">
            <a:spAutoFit/>
          </a:bodyPr>
          <a:lstStyle/>
          <a:p>
            <a:pPr algn="ctr"/>
            <a:r>
              <a:rPr sz="1100" b="1">
                <a:solidFill>
                  <a:srgbClr val="FFFFFF"/>
                </a:solidFill>
              </a:rPr>
              <a:t>5</a:t>
            </a:r>
          </a:p>
        </p:txBody>
      </p:sp>
      <p:sp>
        <p:nvSpPr>
          <p:cNvPr id="22" name="TextBox 21"/>
          <p:cNvSpPr txBox="1"/>
          <p:nvPr/>
        </p:nvSpPr>
        <p:spPr>
          <a:xfrm>
            <a:off x="868680" y="2638552"/>
            <a:ext cx="1280160" cy="177800"/>
          </a:xfrm>
          <a:prstGeom prst="rect">
            <a:avLst/>
          </a:prstGeom>
          <a:noFill/>
        </p:spPr>
        <p:txBody>
          <a:bodyPr wrap="square">
            <a:spAutoFit/>
          </a:bodyPr>
          <a:lstStyle/>
          <a:p>
            <a:pPr algn="l"/>
            <a:r>
              <a:rPr sz="900" b="1">
                <a:solidFill>
                  <a:srgbClr val="1A237E"/>
                </a:solidFill>
              </a:rPr>
              <a:t>Geopolítica</a:t>
            </a:r>
          </a:p>
        </p:txBody>
      </p:sp>
      <p:sp>
        <p:nvSpPr>
          <p:cNvPr id="23" name="TextBox 22"/>
          <p:cNvSpPr txBox="1"/>
          <p:nvPr/>
        </p:nvSpPr>
        <p:spPr>
          <a:xfrm>
            <a:off x="868680" y="2816352"/>
            <a:ext cx="6858000" cy="254000"/>
          </a:xfrm>
          <a:prstGeom prst="rect">
            <a:avLst/>
          </a:prstGeom>
          <a:noFill/>
        </p:spPr>
        <p:txBody>
          <a:bodyPr wrap="square">
            <a:spAutoFit/>
          </a:bodyPr>
          <a:lstStyle/>
          <a:p>
            <a:pPr algn="l"/>
            <a:r>
              <a:rPr sz="1000" b="0">
                <a:solidFill>
                  <a:srgbClr val="212121"/>
                </a:solidFill>
              </a:rPr>
              <a:t>Petróleo sube más de 3% tras nueva línea roja de Irán sobre el uranio</a:t>
            </a:r>
          </a:p>
        </p:txBody>
      </p:sp>
      <p:sp>
        <p:nvSpPr>
          <p:cNvPr id="24" name="Rectangle 23"/>
          <p:cNvSpPr/>
          <p:nvPr/>
        </p:nvSpPr>
        <p:spPr>
          <a:xfrm>
            <a:off x="274320" y="3099816"/>
            <a:ext cx="859536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74320" y="3099816"/>
            <a:ext cx="502920" cy="47548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74320" y="3176016"/>
            <a:ext cx="502920" cy="399288"/>
          </a:xfrm>
          <a:prstGeom prst="rect">
            <a:avLst/>
          </a:prstGeom>
          <a:noFill/>
        </p:spPr>
        <p:txBody>
          <a:bodyPr wrap="square">
            <a:spAutoFit/>
          </a:bodyPr>
          <a:lstStyle/>
          <a:p>
            <a:pPr algn="ctr"/>
            <a:r>
              <a:rPr sz="1100" b="1">
                <a:solidFill>
                  <a:srgbClr val="FFFFFF"/>
                </a:solidFill>
              </a:rPr>
              <a:t>5</a:t>
            </a:r>
          </a:p>
        </p:txBody>
      </p:sp>
      <p:sp>
        <p:nvSpPr>
          <p:cNvPr id="27" name="TextBox 26"/>
          <p:cNvSpPr txBox="1"/>
          <p:nvPr/>
        </p:nvSpPr>
        <p:spPr>
          <a:xfrm>
            <a:off x="868680" y="3150616"/>
            <a:ext cx="1280160" cy="177800"/>
          </a:xfrm>
          <a:prstGeom prst="rect">
            <a:avLst/>
          </a:prstGeom>
          <a:noFill/>
        </p:spPr>
        <p:txBody>
          <a:bodyPr wrap="square">
            <a:spAutoFit/>
          </a:bodyPr>
          <a:lstStyle/>
          <a:p>
            <a:pPr algn="l"/>
            <a:r>
              <a:rPr sz="900" b="1">
                <a:solidFill>
                  <a:srgbClr val="1A237E"/>
                </a:solidFill>
              </a:rPr>
              <a:t>Geopolítica</a:t>
            </a:r>
          </a:p>
        </p:txBody>
      </p:sp>
      <p:sp>
        <p:nvSpPr>
          <p:cNvPr id="28" name="TextBox 27"/>
          <p:cNvSpPr txBox="1"/>
          <p:nvPr/>
        </p:nvSpPr>
        <p:spPr>
          <a:xfrm>
            <a:off x="868680" y="3328416"/>
            <a:ext cx="6858000" cy="254000"/>
          </a:xfrm>
          <a:prstGeom prst="rect">
            <a:avLst/>
          </a:prstGeom>
          <a:noFill/>
        </p:spPr>
        <p:txBody>
          <a:bodyPr wrap="square">
            <a:spAutoFit/>
          </a:bodyPr>
          <a:lstStyle/>
          <a:p>
            <a:pPr algn="l"/>
            <a:r>
              <a:rPr sz="1000" b="0">
                <a:solidFill>
                  <a:srgbClr val="212121"/>
                </a:solidFill>
              </a:rPr>
              <a:t>El cargo a medida del ex príncipe Andrés: comercio, ballet y amigos peligrosos</a:t>
            </a:r>
          </a:p>
        </p:txBody>
      </p:sp>
      <p:sp>
        <p:nvSpPr>
          <p:cNvPr id="29" name="Rectangle 28"/>
          <p:cNvSpPr/>
          <p:nvPr/>
        </p:nvSpPr>
        <p:spPr>
          <a:xfrm>
            <a:off x="274320" y="3611880"/>
            <a:ext cx="8595360" cy="475488"/>
          </a:xfrm>
          <a:prstGeom prst="rect">
            <a:avLst/>
          </a:prstGeom>
          <a:solidFill>
            <a:srgbClr val="EEF1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74320" y="3611880"/>
            <a:ext cx="502920" cy="47548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3688080"/>
            <a:ext cx="502920" cy="399288"/>
          </a:xfrm>
          <a:prstGeom prst="rect">
            <a:avLst/>
          </a:prstGeom>
          <a:noFill/>
        </p:spPr>
        <p:txBody>
          <a:bodyPr wrap="square">
            <a:spAutoFit/>
          </a:bodyPr>
          <a:lstStyle/>
          <a:p>
            <a:pPr algn="ctr"/>
            <a:r>
              <a:rPr sz="1100" b="1">
                <a:solidFill>
                  <a:srgbClr val="FFFFFF"/>
                </a:solidFill>
              </a:rPr>
              <a:t>5</a:t>
            </a:r>
          </a:p>
        </p:txBody>
      </p:sp>
      <p:sp>
        <p:nvSpPr>
          <p:cNvPr id="32" name="TextBox 31"/>
          <p:cNvSpPr txBox="1"/>
          <p:nvPr/>
        </p:nvSpPr>
        <p:spPr>
          <a:xfrm>
            <a:off x="868680" y="3662680"/>
            <a:ext cx="1280160" cy="177800"/>
          </a:xfrm>
          <a:prstGeom prst="rect">
            <a:avLst/>
          </a:prstGeom>
          <a:noFill/>
        </p:spPr>
        <p:txBody>
          <a:bodyPr wrap="square">
            <a:spAutoFit/>
          </a:bodyPr>
          <a:lstStyle/>
          <a:p>
            <a:pPr algn="l"/>
            <a:r>
              <a:rPr sz="900" b="1">
                <a:solidFill>
                  <a:srgbClr val="1A237E"/>
                </a:solidFill>
              </a:rPr>
              <a:t>Cooperativismo</a:t>
            </a:r>
          </a:p>
        </p:txBody>
      </p:sp>
      <p:sp>
        <p:nvSpPr>
          <p:cNvPr id="33" name="TextBox 32"/>
          <p:cNvSpPr txBox="1"/>
          <p:nvPr/>
        </p:nvSpPr>
        <p:spPr>
          <a:xfrm>
            <a:off x="868680" y="3840480"/>
            <a:ext cx="6858000" cy="254000"/>
          </a:xfrm>
          <a:prstGeom prst="rect">
            <a:avLst/>
          </a:prstGeom>
          <a:noFill/>
        </p:spPr>
        <p:txBody>
          <a:bodyPr wrap="square">
            <a:spAutoFit/>
          </a:bodyPr>
          <a:lstStyle/>
          <a:p>
            <a:pPr algn="l"/>
            <a:r>
              <a:rPr sz="1000" b="0">
                <a:solidFill>
                  <a:srgbClr val="212121"/>
                </a:solidFill>
              </a:rPr>
              <a:t>La Diputación de Almería y el Ayuntamiento de El Ejido entregan a Down El Ejido el proyecto de …</a:t>
            </a:r>
          </a:p>
        </p:txBody>
      </p:sp>
      <p:sp>
        <p:nvSpPr>
          <p:cNvPr id="34" name="Rectangle 33"/>
          <p:cNvSpPr/>
          <p:nvPr/>
        </p:nvSpPr>
        <p:spPr>
          <a:xfrm>
            <a:off x="274320" y="4123944"/>
            <a:ext cx="8595360" cy="4754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74320" y="4123944"/>
            <a:ext cx="502920" cy="47548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4320" y="4200144"/>
            <a:ext cx="502920" cy="399288"/>
          </a:xfrm>
          <a:prstGeom prst="rect">
            <a:avLst/>
          </a:prstGeom>
          <a:noFill/>
        </p:spPr>
        <p:txBody>
          <a:bodyPr wrap="square">
            <a:spAutoFit/>
          </a:bodyPr>
          <a:lstStyle/>
          <a:p>
            <a:pPr algn="ctr"/>
            <a:r>
              <a:rPr sz="1100" b="1">
                <a:solidFill>
                  <a:srgbClr val="FFFFFF"/>
                </a:solidFill>
              </a:rPr>
              <a:t>5</a:t>
            </a:r>
          </a:p>
        </p:txBody>
      </p:sp>
      <p:sp>
        <p:nvSpPr>
          <p:cNvPr id="37" name="TextBox 36"/>
          <p:cNvSpPr txBox="1"/>
          <p:nvPr/>
        </p:nvSpPr>
        <p:spPr>
          <a:xfrm>
            <a:off x="868680" y="4174744"/>
            <a:ext cx="1280160" cy="177800"/>
          </a:xfrm>
          <a:prstGeom prst="rect">
            <a:avLst/>
          </a:prstGeom>
          <a:noFill/>
        </p:spPr>
        <p:txBody>
          <a:bodyPr wrap="square">
            <a:spAutoFit/>
          </a:bodyPr>
          <a:lstStyle/>
          <a:p>
            <a:pPr algn="l"/>
            <a:r>
              <a:rPr sz="900" b="1">
                <a:solidFill>
                  <a:srgbClr val="1A237E"/>
                </a:solidFill>
              </a:rPr>
              <a:t>Cooperativismo</a:t>
            </a:r>
          </a:p>
        </p:txBody>
      </p:sp>
      <p:sp>
        <p:nvSpPr>
          <p:cNvPr id="38" name="TextBox 37"/>
          <p:cNvSpPr txBox="1"/>
          <p:nvPr/>
        </p:nvSpPr>
        <p:spPr>
          <a:xfrm>
            <a:off x="868680" y="4352544"/>
            <a:ext cx="6858000" cy="254000"/>
          </a:xfrm>
          <a:prstGeom prst="rect">
            <a:avLst/>
          </a:prstGeom>
          <a:noFill/>
        </p:spPr>
        <p:txBody>
          <a:bodyPr wrap="square">
            <a:spAutoFit/>
          </a:bodyPr>
          <a:lstStyle/>
          <a:p>
            <a:pPr algn="l"/>
            <a:r>
              <a:rPr sz="1000" b="0">
                <a:solidFill>
                  <a:srgbClr val="212121"/>
                </a:solidFill>
              </a:rPr>
              <a:t>Illa pacta con el Tercer Sector condonar la deuda energética a familias vulnerables</a:t>
            </a:r>
          </a:p>
        </p:txBody>
      </p:sp>
      <p:sp>
        <p:nvSpPr>
          <p:cNvPr id="39" name="Rectangle 38"/>
          <p:cNvSpPr/>
          <p:nvPr/>
        </p:nvSpPr>
        <p:spPr>
          <a:xfrm>
            <a:off x="274320" y="4636008"/>
            <a:ext cx="8595360" cy="475488"/>
          </a:xfrm>
          <a:prstGeom prst="rect">
            <a:avLst/>
          </a:prstGeom>
          <a:solidFill>
            <a:srgbClr val="EEF1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74320" y="4636008"/>
            <a:ext cx="502920" cy="475488"/>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74320" y="4712208"/>
            <a:ext cx="502920" cy="399288"/>
          </a:xfrm>
          <a:prstGeom prst="rect">
            <a:avLst/>
          </a:prstGeom>
          <a:noFill/>
        </p:spPr>
        <p:txBody>
          <a:bodyPr wrap="square">
            <a:spAutoFit/>
          </a:bodyPr>
          <a:lstStyle/>
          <a:p>
            <a:pPr algn="ctr"/>
            <a:r>
              <a:rPr sz="1100" b="1">
                <a:solidFill>
                  <a:srgbClr val="FFFFFF"/>
                </a:solidFill>
              </a:rPr>
              <a:t>5</a:t>
            </a:r>
          </a:p>
        </p:txBody>
      </p:sp>
      <p:sp>
        <p:nvSpPr>
          <p:cNvPr id="42" name="TextBox 41"/>
          <p:cNvSpPr txBox="1"/>
          <p:nvPr/>
        </p:nvSpPr>
        <p:spPr>
          <a:xfrm>
            <a:off x="868680" y="4686808"/>
            <a:ext cx="1280160" cy="177800"/>
          </a:xfrm>
          <a:prstGeom prst="rect">
            <a:avLst/>
          </a:prstGeom>
          <a:noFill/>
        </p:spPr>
        <p:txBody>
          <a:bodyPr wrap="square">
            <a:spAutoFit/>
          </a:bodyPr>
          <a:lstStyle/>
          <a:p>
            <a:pPr algn="l"/>
            <a:r>
              <a:rPr sz="900" b="1">
                <a:solidFill>
                  <a:srgbClr val="1A237E"/>
                </a:solidFill>
              </a:rPr>
              <a:t>Cooperativismo</a:t>
            </a:r>
          </a:p>
        </p:txBody>
      </p:sp>
      <p:sp>
        <p:nvSpPr>
          <p:cNvPr id="43" name="TextBox 42"/>
          <p:cNvSpPr txBox="1"/>
          <p:nvPr/>
        </p:nvSpPr>
        <p:spPr>
          <a:xfrm>
            <a:off x="868680" y="4864608"/>
            <a:ext cx="6858000" cy="254000"/>
          </a:xfrm>
          <a:prstGeom prst="rect">
            <a:avLst/>
          </a:prstGeom>
          <a:noFill/>
        </p:spPr>
        <p:txBody>
          <a:bodyPr wrap="square">
            <a:spAutoFit/>
          </a:bodyPr>
          <a:lstStyle/>
          <a:p>
            <a:pPr algn="l"/>
            <a:r>
              <a:rPr sz="1000" b="0">
                <a:solidFill>
                  <a:srgbClr val="212121"/>
                </a:solidFill>
              </a:rPr>
              <a:t>Eva Longoria brilla en la gran noche solidaria del Festival de Cannes: un espectacular look, ba…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8229600" cy="594360"/>
          </a:xfrm>
          <a:prstGeom prst="rect">
            <a:avLst/>
          </a:prstGeom>
          <a:noFill/>
        </p:spPr>
        <p:txBody>
          <a:bodyPr wrap="square">
            <a:spAutoFit/>
          </a:bodyPr>
          <a:lstStyle/>
          <a:p>
            <a:pPr algn="l"/>
            <a:r>
              <a:rPr sz="2400" b="1">
                <a:solidFill>
                  <a:srgbClr val="FFFFFF"/>
                </a:solidFill>
              </a:rPr>
              <a:t>🌍  Geopolítica</a:t>
            </a:r>
          </a:p>
        </p:txBody>
      </p:sp>
      <p:sp>
        <p:nvSpPr>
          <p:cNvPr id="4" name="Rectangle 3"/>
          <p:cNvSpPr/>
          <p:nvPr/>
        </p:nvSpPr>
        <p:spPr>
          <a:xfrm>
            <a:off x="274320" y="1005840"/>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005840"/>
            <a:ext cx="54864"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38160" y="1097280"/>
            <a:ext cx="64008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1097280"/>
            <a:ext cx="640080" cy="274320"/>
          </a:xfrm>
          <a:prstGeom prst="rect">
            <a:avLst/>
          </a:prstGeom>
          <a:noFill/>
        </p:spPr>
        <p:txBody>
          <a:bodyPr wrap="square">
            <a:spAutoFit/>
          </a:bodyPr>
          <a:lstStyle/>
          <a:p>
            <a:pPr algn="ctr"/>
            <a:r>
              <a:rPr sz="900" b="1">
                <a:solidFill>
                  <a:srgbClr val="FFFFFF"/>
                </a:solidFill>
              </a:rPr>
              <a:t>5/10</a:t>
            </a:r>
          </a:p>
        </p:txBody>
      </p:sp>
      <p:sp>
        <p:nvSpPr>
          <p:cNvPr id="8" name="TextBox 7"/>
          <p:cNvSpPr txBox="1"/>
          <p:nvPr/>
        </p:nvSpPr>
        <p:spPr>
          <a:xfrm>
            <a:off x="457200" y="1097280"/>
            <a:ext cx="7498080" cy="347472"/>
          </a:xfrm>
          <a:prstGeom prst="rect">
            <a:avLst/>
          </a:prstGeom>
          <a:noFill/>
        </p:spPr>
        <p:txBody>
          <a:bodyPr wrap="square">
            <a:spAutoFit/>
          </a:bodyPr>
          <a:lstStyle/>
          <a:p>
            <a:pPr algn="l"/>
            <a:r>
              <a:rPr sz="1100" b="1">
                <a:solidFill>
                  <a:srgbClr val="212121"/>
                </a:solidFill>
              </a:rPr>
              <a:t>Sevilla acogerá en 2028 una nueva edición de ADM tras superar las 400 empresas</a:t>
            </a:r>
          </a:p>
        </p:txBody>
      </p:sp>
      <p:sp>
        <p:nvSpPr>
          <p:cNvPr id="9" name="TextBox 8"/>
          <p:cNvSpPr txBox="1"/>
          <p:nvPr/>
        </p:nvSpPr>
        <p:spPr>
          <a:xfrm>
            <a:off x="457200" y="1444752"/>
            <a:ext cx="8321040" cy="502920"/>
          </a:xfrm>
          <a:prstGeom prst="rect">
            <a:avLst/>
          </a:prstGeom>
          <a:noFill/>
        </p:spPr>
        <p:txBody>
          <a:bodyPr wrap="square">
            <a:spAutoFit/>
          </a:bodyPr>
          <a:lstStyle/>
          <a:p>
            <a:pPr algn="l"/>
            <a:r>
              <a:rPr sz="900" b="0">
                <a:solidFill>
                  <a:srgbClr val="757575"/>
                </a:solidFill>
              </a:rPr>
              <a:t>El evento Aeroespace &amp; Defense Meetings (ADM) Sevilla 2026 ha cerrado su edición con un balance «enormemente positivo», tras alcanzar la participación de 415 em…</a:t>
            </a:r>
          </a:p>
        </p:txBody>
      </p:sp>
      <p:sp>
        <p:nvSpPr>
          <p:cNvPr id="10" name="TextBox 9"/>
          <p:cNvSpPr txBox="1"/>
          <p:nvPr/>
        </p:nvSpPr>
        <p:spPr>
          <a:xfrm>
            <a:off x="457200" y="1965960"/>
            <a:ext cx="3657600" cy="228600"/>
          </a:xfrm>
          <a:prstGeom prst="rect">
            <a:avLst/>
          </a:prstGeom>
          <a:noFill/>
        </p:spPr>
        <p:txBody>
          <a:bodyPr wrap="square">
            <a:spAutoFit/>
          </a:bodyPr>
          <a:lstStyle/>
          <a:p>
            <a:pPr algn="l"/>
            <a:r>
              <a:rPr sz="800" b="0">
                <a:solidFill>
                  <a:srgbClr val="757575"/>
                </a:solidFill>
              </a:rPr>
              <a:t>📰 Www.abc.es</a:t>
            </a:r>
          </a:p>
        </p:txBody>
      </p:sp>
      <p:sp>
        <p:nvSpPr>
          <p:cNvPr id="11" name="Rectangle 10"/>
          <p:cNvSpPr/>
          <p:nvPr/>
        </p:nvSpPr>
        <p:spPr>
          <a:xfrm>
            <a:off x="274320" y="2350008"/>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2350008"/>
            <a:ext cx="54864"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2441448"/>
            <a:ext cx="64008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2441448"/>
            <a:ext cx="640080" cy="274320"/>
          </a:xfrm>
          <a:prstGeom prst="rect">
            <a:avLst/>
          </a:prstGeom>
          <a:noFill/>
        </p:spPr>
        <p:txBody>
          <a:bodyPr wrap="square">
            <a:spAutoFit/>
          </a:bodyPr>
          <a:lstStyle/>
          <a:p>
            <a:pPr algn="ctr"/>
            <a:r>
              <a:rPr sz="900" b="1">
                <a:solidFill>
                  <a:srgbClr val="FFFFFF"/>
                </a:solidFill>
              </a:rPr>
              <a:t>5/10</a:t>
            </a:r>
          </a:p>
        </p:txBody>
      </p:sp>
      <p:sp>
        <p:nvSpPr>
          <p:cNvPr id="15" name="TextBox 14"/>
          <p:cNvSpPr txBox="1"/>
          <p:nvPr/>
        </p:nvSpPr>
        <p:spPr>
          <a:xfrm>
            <a:off x="457200" y="2441448"/>
            <a:ext cx="7498080" cy="347472"/>
          </a:xfrm>
          <a:prstGeom prst="rect">
            <a:avLst/>
          </a:prstGeom>
          <a:noFill/>
        </p:spPr>
        <p:txBody>
          <a:bodyPr wrap="square">
            <a:spAutoFit/>
          </a:bodyPr>
          <a:lstStyle/>
          <a:p>
            <a:pPr algn="l"/>
            <a:r>
              <a:rPr sz="1100" b="1">
                <a:solidFill>
                  <a:srgbClr val="212121"/>
                </a:solidFill>
              </a:rPr>
              <a:t>Petróleo sube más de 3% tras nueva línea roja de Irán sobre el uranio</a:t>
            </a:r>
          </a:p>
        </p:txBody>
      </p:sp>
      <p:sp>
        <p:nvSpPr>
          <p:cNvPr id="16" name="TextBox 15"/>
          <p:cNvSpPr txBox="1"/>
          <p:nvPr/>
        </p:nvSpPr>
        <p:spPr>
          <a:xfrm>
            <a:off x="457200" y="2788920"/>
            <a:ext cx="8321040" cy="502920"/>
          </a:xfrm>
          <a:prstGeom prst="rect">
            <a:avLst/>
          </a:prstGeom>
          <a:noFill/>
        </p:spPr>
        <p:txBody>
          <a:bodyPr wrap="square">
            <a:spAutoFit/>
          </a:bodyPr>
          <a:lstStyle/>
          <a:p>
            <a:pPr algn="l"/>
            <a:r>
              <a:rPr sz="900" b="0">
                <a:solidFill>
                  <a:srgbClr val="757575"/>
                </a:solidFill>
              </a:rPr>
              <a:t>El mercado petrolero reaccionó con fuerza a un nuevo endurecimiento de la postura iraní sobre su uranio enriquecido, en un contexto de negociaciones frágiles co…</a:t>
            </a:r>
          </a:p>
        </p:txBody>
      </p:sp>
      <p:sp>
        <p:nvSpPr>
          <p:cNvPr id="17" name="TextBox 16"/>
          <p:cNvSpPr txBox="1"/>
          <p:nvPr/>
        </p:nvSpPr>
        <p:spPr>
          <a:xfrm>
            <a:off x="457200" y="3310128"/>
            <a:ext cx="3657600" cy="228600"/>
          </a:xfrm>
          <a:prstGeom prst="rect">
            <a:avLst/>
          </a:prstGeom>
          <a:noFill/>
        </p:spPr>
        <p:txBody>
          <a:bodyPr wrap="square">
            <a:spAutoFit/>
          </a:bodyPr>
          <a:lstStyle/>
          <a:p>
            <a:pPr algn="l"/>
            <a:r>
              <a:rPr sz="800" b="0">
                <a:solidFill>
                  <a:srgbClr val="757575"/>
                </a:solidFill>
              </a:rPr>
              <a:t>📰 Diariobitcoin.com</a:t>
            </a:r>
          </a:p>
        </p:txBody>
      </p:sp>
      <p:sp>
        <p:nvSpPr>
          <p:cNvPr id="18" name="Rectangle 17"/>
          <p:cNvSpPr/>
          <p:nvPr/>
        </p:nvSpPr>
        <p:spPr>
          <a:xfrm>
            <a:off x="274320" y="3694176"/>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3694176"/>
            <a:ext cx="54864"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3785616"/>
            <a:ext cx="64008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3785616"/>
            <a:ext cx="640080" cy="274320"/>
          </a:xfrm>
          <a:prstGeom prst="rect">
            <a:avLst/>
          </a:prstGeom>
          <a:noFill/>
        </p:spPr>
        <p:txBody>
          <a:bodyPr wrap="square">
            <a:spAutoFit/>
          </a:bodyPr>
          <a:lstStyle/>
          <a:p>
            <a:pPr algn="ctr"/>
            <a:r>
              <a:rPr sz="900" b="1">
                <a:solidFill>
                  <a:srgbClr val="FFFFFF"/>
                </a:solidFill>
              </a:rPr>
              <a:t>5/10</a:t>
            </a:r>
          </a:p>
        </p:txBody>
      </p:sp>
      <p:sp>
        <p:nvSpPr>
          <p:cNvPr id="22" name="TextBox 21"/>
          <p:cNvSpPr txBox="1"/>
          <p:nvPr/>
        </p:nvSpPr>
        <p:spPr>
          <a:xfrm>
            <a:off x="457200" y="3785616"/>
            <a:ext cx="7498080" cy="347472"/>
          </a:xfrm>
          <a:prstGeom prst="rect">
            <a:avLst/>
          </a:prstGeom>
          <a:noFill/>
        </p:spPr>
        <p:txBody>
          <a:bodyPr wrap="square">
            <a:spAutoFit/>
          </a:bodyPr>
          <a:lstStyle/>
          <a:p>
            <a:pPr algn="l"/>
            <a:r>
              <a:rPr sz="1100" b="1">
                <a:solidFill>
                  <a:srgbClr val="212121"/>
                </a:solidFill>
              </a:rPr>
              <a:t>Resumen del Warhammer Skulls 2026: más Space Marine 2, Helldivers 2, demo de Boltgun II, s…</a:t>
            </a:r>
          </a:p>
        </p:txBody>
      </p:sp>
      <p:sp>
        <p:nvSpPr>
          <p:cNvPr id="23" name="TextBox 22"/>
          <p:cNvSpPr txBox="1"/>
          <p:nvPr/>
        </p:nvSpPr>
        <p:spPr>
          <a:xfrm>
            <a:off x="457200" y="4133088"/>
            <a:ext cx="8321040" cy="502920"/>
          </a:xfrm>
          <a:prstGeom prst="rect">
            <a:avLst/>
          </a:prstGeom>
          <a:noFill/>
        </p:spPr>
        <p:txBody>
          <a:bodyPr wrap="square">
            <a:spAutoFit/>
          </a:bodyPr>
          <a:lstStyle/>
          <a:p>
            <a:pPr algn="l"/>
            <a:r>
              <a:rPr sz="900" b="0">
                <a:solidFill>
                  <a:srgbClr val="757575"/>
                </a:solidFill>
              </a:rPr>
              <a:t>Al fin ha llegado uno de los días más importantes del año para los fans de Warhammer 40K. Se acaba de celebrar el Warhammer Skulls 2026, el evento anual de la f…</a:t>
            </a:r>
          </a:p>
        </p:txBody>
      </p:sp>
      <p:sp>
        <p:nvSpPr>
          <p:cNvPr id="24" name="TextBox 23"/>
          <p:cNvSpPr txBox="1"/>
          <p:nvPr/>
        </p:nvSpPr>
        <p:spPr>
          <a:xfrm>
            <a:off x="457200" y="4654296"/>
            <a:ext cx="3657600" cy="228600"/>
          </a:xfrm>
          <a:prstGeom prst="rect">
            <a:avLst/>
          </a:prstGeom>
          <a:noFill/>
        </p:spPr>
        <p:txBody>
          <a:bodyPr wrap="square">
            <a:spAutoFit/>
          </a:bodyPr>
          <a:lstStyle/>
          <a:p>
            <a:pPr algn="l"/>
            <a:r>
              <a:rPr sz="800" b="0">
                <a:solidFill>
                  <a:srgbClr val="757575"/>
                </a:solidFill>
              </a:rPr>
              <a:t>📰 Vida Extra</a:t>
            </a:r>
          </a:p>
        </p:txBody>
      </p:sp>
      <p:sp>
        <p:nvSpPr>
          <p:cNvPr id="25" name="Rectangle 24"/>
          <p:cNvSpPr/>
          <p:nvPr/>
        </p:nvSpPr>
        <p:spPr>
          <a:xfrm>
            <a:off x="274320" y="5038344"/>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4320" y="5038344"/>
            <a:ext cx="54864"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5129784"/>
            <a:ext cx="64008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0" y="5129784"/>
            <a:ext cx="640080" cy="274320"/>
          </a:xfrm>
          <a:prstGeom prst="rect">
            <a:avLst/>
          </a:prstGeom>
          <a:noFill/>
        </p:spPr>
        <p:txBody>
          <a:bodyPr wrap="square">
            <a:spAutoFit/>
          </a:bodyPr>
          <a:lstStyle/>
          <a:p>
            <a:pPr algn="ctr"/>
            <a:r>
              <a:rPr sz="900" b="1">
                <a:solidFill>
                  <a:srgbClr val="FFFFFF"/>
                </a:solidFill>
              </a:rPr>
              <a:t>5/10</a:t>
            </a:r>
          </a:p>
        </p:txBody>
      </p:sp>
      <p:sp>
        <p:nvSpPr>
          <p:cNvPr id="29" name="TextBox 28"/>
          <p:cNvSpPr txBox="1"/>
          <p:nvPr/>
        </p:nvSpPr>
        <p:spPr>
          <a:xfrm>
            <a:off x="457200" y="5129784"/>
            <a:ext cx="7498080" cy="347472"/>
          </a:xfrm>
          <a:prstGeom prst="rect">
            <a:avLst/>
          </a:prstGeom>
          <a:noFill/>
        </p:spPr>
        <p:txBody>
          <a:bodyPr wrap="square">
            <a:spAutoFit/>
          </a:bodyPr>
          <a:lstStyle/>
          <a:p>
            <a:pPr algn="l"/>
            <a:r>
              <a:rPr sz="1100" b="1">
                <a:solidFill>
                  <a:srgbClr val="212121"/>
                </a:solidFill>
              </a:rPr>
              <a:t>El cargo a medida del ex príncipe Andrés: comercio, ballet y amigos peligrosos</a:t>
            </a:r>
          </a:p>
        </p:txBody>
      </p:sp>
      <p:sp>
        <p:nvSpPr>
          <p:cNvPr id="30" name="TextBox 29"/>
          <p:cNvSpPr txBox="1"/>
          <p:nvPr/>
        </p:nvSpPr>
        <p:spPr>
          <a:xfrm>
            <a:off x="457200" y="5477256"/>
            <a:ext cx="8321040" cy="502920"/>
          </a:xfrm>
          <a:prstGeom prst="rect">
            <a:avLst/>
          </a:prstGeom>
          <a:noFill/>
        </p:spPr>
        <p:txBody>
          <a:bodyPr wrap="square">
            <a:spAutoFit/>
          </a:bodyPr>
          <a:lstStyle/>
          <a:p>
            <a:pPr algn="l"/>
            <a:r>
              <a:rPr sz="900" b="0">
                <a:solidFill>
                  <a:srgbClr val="757575"/>
                </a:solidFill>
              </a:rPr>
              <a:t>Un representante para Comercio e Inversión cuyas condiciones de laborales determinan que "tiene preferencia por los países más sofisticados, preferiblemente aqu…</a:t>
            </a:r>
          </a:p>
        </p:txBody>
      </p:sp>
      <p:sp>
        <p:nvSpPr>
          <p:cNvPr id="31" name="TextBox 30"/>
          <p:cNvSpPr txBox="1"/>
          <p:nvPr/>
        </p:nvSpPr>
        <p:spPr>
          <a:xfrm>
            <a:off x="457200" y="5998464"/>
            <a:ext cx="3657600" cy="228600"/>
          </a:xfrm>
          <a:prstGeom prst="rect">
            <a:avLst/>
          </a:prstGeom>
          <a:noFill/>
        </p:spPr>
        <p:txBody>
          <a:bodyPr wrap="square">
            <a:spAutoFit/>
          </a:bodyPr>
          <a:lstStyle/>
          <a:p>
            <a:pPr algn="l"/>
            <a:r>
              <a:rPr sz="800" b="0">
                <a:solidFill>
                  <a:srgbClr val="757575"/>
                </a:solidFill>
              </a:rPr>
              <a:t>📰 El Mundo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2835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8229600" cy="594360"/>
          </a:xfrm>
          <a:prstGeom prst="rect">
            <a:avLst/>
          </a:prstGeom>
          <a:noFill/>
        </p:spPr>
        <p:txBody>
          <a:bodyPr wrap="square">
            <a:spAutoFit/>
          </a:bodyPr>
          <a:lstStyle/>
          <a:p>
            <a:pPr algn="l"/>
            <a:r>
              <a:rPr sz="2400" b="1">
                <a:solidFill>
                  <a:srgbClr val="FFFFFF"/>
                </a:solidFill>
              </a:rPr>
              <a:t>💹  Economía Global</a:t>
            </a:r>
          </a:p>
        </p:txBody>
      </p:sp>
      <p:sp>
        <p:nvSpPr>
          <p:cNvPr id="4" name="TextBox 3"/>
          <p:cNvSpPr txBox="1"/>
          <p:nvPr/>
        </p:nvSpPr>
        <p:spPr>
          <a:xfrm>
            <a:off x="457200" y="1371600"/>
            <a:ext cx="8229600" cy="914400"/>
          </a:xfrm>
          <a:prstGeom prst="rect">
            <a:avLst/>
          </a:prstGeom>
          <a:noFill/>
        </p:spPr>
        <p:txBody>
          <a:bodyPr wrap="square">
            <a:spAutoFit/>
          </a:bodyPr>
          <a:lstStyle/>
          <a:p>
            <a:pPr algn="l"/>
            <a:r>
              <a:rPr sz="1300" b="0">
                <a:solidFill>
                  <a:srgbClr val="757575"/>
                </a:solidFill>
              </a:rPr>
              <a:t>Sin noticias disponibles para esta categoría.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8229600" cy="594360"/>
          </a:xfrm>
          <a:prstGeom prst="rect">
            <a:avLst/>
          </a:prstGeom>
          <a:noFill/>
        </p:spPr>
        <p:txBody>
          <a:bodyPr wrap="square">
            <a:spAutoFit/>
          </a:bodyPr>
          <a:lstStyle/>
          <a:p>
            <a:pPr algn="l"/>
            <a:r>
              <a:rPr sz="2400" b="1">
                <a:solidFill>
                  <a:srgbClr val="FFFFFF"/>
                </a:solidFill>
              </a:rPr>
              <a:t>🇨🇱  Chile Estratégico</a:t>
            </a:r>
          </a:p>
        </p:txBody>
      </p:sp>
      <p:sp>
        <p:nvSpPr>
          <p:cNvPr id="4" name="TextBox 3"/>
          <p:cNvSpPr txBox="1"/>
          <p:nvPr/>
        </p:nvSpPr>
        <p:spPr>
          <a:xfrm>
            <a:off x="457200" y="1371600"/>
            <a:ext cx="8229600" cy="914400"/>
          </a:xfrm>
          <a:prstGeom prst="rect">
            <a:avLst/>
          </a:prstGeom>
          <a:noFill/>
        </p:spPr>
        <p:txBody>
          <a:bodyPr wrap="square">
            <a:spAutoFit/>
          </a:bodyPr>
          <a:lstStyle/>
          <a:p>
            <a:pPr algn="l"/>
            <a:r>
              <a:rPr sz="1300" b="0">
                <a:solidFill>
                  <a:srgbClr val="757575"/>
                </a:solidFill>
              </a:rPr>
              <a:t>Sin noticias disponibles para esta categoría.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060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8229600" cy="594360"/>
          </a:xfrm>
          <a:prstGeom prst="rect">
            <a:avLst/>
          </a:prstGeom>
          <a:noFill/>
        </p:spPr>
        <p:txBody>
          <a:bodyPr wrap="square">
            <a:spAutoFit/>
          </a:bodyPr>
          <a:lstStyle/>
          <a:p>
            <a:pPr algn="l"/>
            <a:r>
              <a:rPr sz="2400" b="1">
                <a:solidFill>
                  <a:srgbClr val="FFFFFF"/>
                </a:solidFill>
              </a:rPr>
              <a:t>🤝  Cooperativismo</a:t>
            </a:r>
          </a:p>
        </p:txBody>
      </p:sp>
      <p:sp>
        <p:nvSpPr>
          <p:cNvPr id="4" name="Rectangle 3"/>
          <p:cNvSpPr/>
          <p:nvPr/>
        </p:nvSpPr>
        <p:spPr>
          <a:xfrm>
            <a:off x="274320" y="1005840"/>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005840"/>
            <a:ext cx="54864" cy="123444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38160" y="1097280"/>
            <a:ext cx="640080" cy="274320"/>
          </a:xfrm>
          <a:prstGeom prst="rect">
            <a:avLst/>
          </a:prstGeom>
          <a:solidFill>
            <a:srgbClr val="E65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1097280"/>
            <a:ext cx="640080" cy="274320"/>
          </a:xfrm>
          <a:prstGeom prst="rect">
            <a:avLst/>
          </a:prstGeom>
          <a:noFill/>
        </p:spPr>
        <p:txBody>
          <a:bodyPr wrap="square">
            <a:spAutoFit/>
          </a:bodyPr>
          <a:lstStyle/>
          <a:p>
            <a:pPr algn="ctr"/>
            <a:r>
              <a:rPr sz="900" b="1">
                <a:solidFill>
                  <a:srgbClr val="FFFFFF"/>
                </a:solidFill>
              </a:rPr>
              <a:t>7/10</a:t>
            </a:r>
          </a:p>
        </p:txBody>
      </p:sp>
      <p:sp>
        <p:nvSpPr>
          <p:cNvPr id="8" name="TextBox 7"/>
          <p:cNvSpPr txBox="1"/>
          <p:nvPr/>
        </p:nvSpPr>
        <p:spPr>
          <a:xfrm>
            <a:off x="457200" y="1097280"/>
            <a:ext cx="7498080" cy="347472"/>
          </a:xfrm>
          <a:prstGeom prst="rect">
            <a:avLst/>
          </a:prstGeom>
          <a:noFill/>
        </p:spPr>
        <p:txBody>
          <a:bodyPr wrap="square">
            <a:spAutoFit/>
          </a:bodyPr>
          <a:lstStyle/>
          <a:p>
            <a:pPr algn="l"/>
            <a:r>
              <a:rPr sz="1100" b="1">
                <a:solidFill>
                  <a:srgbClr val="212121"/>
                </a:solidFill>
              </a:rPr>
              <a:t>Nuevo aumento confirmado para empleados de comercio: quiénes lo cobran y de cuánto es la s…</a:t>
            </a:r>
          </a:p>
        </p:txBody>
      </p:sp>
      <p:sp>
        <p:nvSpPr>
          <p:cNvPr id="9" name="TextBox 8"/>
          <p:cNvSpPr txBox="1"/>
          <p:nvPr/>
        </p:nvSpPr>
        <p:spPr>
          <a:xfrm>
            <a:off x="457200" y="1444752"/>
            <a:ext cx="8321040" cy="502920"/>
          </a:xfrm>
          <a:prstGeom prst="rect">
            <a:avLst/>
          </a:prstGeom>
          <a:noFill/>
        </p:spPr>
        <p:txBody>
          <a:bodyPr wrap="square">
            <a:spAutoFit/>
          </a:bodyPr>
          <a:lstStyle/>
          <a:p>
            <a:pPr algn="l"/>
            <a:r>
              <a:rPr sz="900" b="0">
                <a:solidFill>
                  <a:srgbClr val="757575"/>
                </a:solidFill>
              </a:rPr>
              <a:t>La Federación Argentina de Empleados de Comercio y Servicios (FAECYS) cerró otro acuerdo paritario para una de sus ramas. Los detalles.</a:t>
            </a:r>
          </a:p>
        </p:txBody>
      </p:sp>
      <p:sp>
        <p:nvSpPr>
          <p:cNvPr id="10" name="TextBox 9"/>
          <p:cNvSpPr txBox="1"/>
          <p:nvPr/>
        </p:nvSpPr>
        <p:spPr>
          <a:xfrm>
            <a:off x="457200" y="1965960"/>
            <a:ext cx="3657600" cy="228600"/>
          </a:xfrm>
          <a:prstGeom prst="rect">
            <a:avLst/>
          </a:prstGeom>
          <a:noFill/>
        </p:spPr>
        <p:txBody>
          <a:bodyPr wrap="square">
            <a:spAutoFit/>
          </a:bodyPr>
          <a:lstStyle/>
          <a:p>
            <a:pPr algn="l"/>
            <a:r>
              <a:rPr sz="800" b="0">
                <a:solidFill>
                  <a:srgbClr val="757575"/>
                </a:solidFill>
              </a:rPr>
              <a:t>📰 El Cronista Comercial</a:t>
            </a:r>
          </a:p>
        </p:txBody>
      </p:sp>
      <p:sp>
        <p:nvSpPr>
          <p:cNvPr id="11" name="Rectangle 10"/>
          <p:cNvSpPr/>
          <p:nvPr/>
        </p:nvSpPr>
        <p:spPr>
          <a:xfrm>
            <a:off x="274320" y="2350008"/>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2350008"/>
            <a:ext cx="54864"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2441448"/>
            <a:ext cx="64008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2441448"/>
            <a:ext cx="640080" cy="274320"/>
          </a:xfrm>
          <a:prstGeom prst="rect">
            <a:avLst/>
          </a:prstGeom>
          <a:noFill/>
        </p:spPr>
        <p:txBody>
          <a:bodyPr wrap="square">
            <a:spAutoFit/>
          </a:bodyPr>
          <a:lstStyle/>
          <a:p>
            <a:pPr algn="ctr"/>
            <a:r>
              <a:rPr sz="900" b="1">
                <a:solidFill>
                  <a:srgbClr val="FFFFFF"/>
                </a:solidFill>
              </a:rPr>
              <a:t>5/10</a:t>
            </a:r>
          </a:p>
        </p:txBody>
      </p:sp>
      <p:sp>
        <p:nvSpPr>
          <p:cNvPr id="15" name="TextBox 14"/>
          <p:cNvSpPr txBox="1"/>
          <p:nvPr/>
        </p:nvSpPr>
        <p:spPr>
          <a:xfrm>
            <a:off x="457200" y="2441448"/>
            <a:ext cx="7498080" cy="347472"/>
          </a:xfrm>
          <a:prstGeom prst="rect">
            <a:avLst/>
          </a:prstGeom>
          <a:noFill/>
        </p:spPr>
        <p:txBody>
          <a:bodyPr wrap="square">
            <a:spAutoFit/>
          </a:bodyPr>
          <a:lstStyle/>
          <a:p>
            <a:pPr algn="l"/>
            <a:r>
              <a:rPr sz="1100" b="1">
                <a:solidFill>
                  <a:srgbClr val="212121"/>
                </a:solidFill>
              </a:rPr>
              <a:t>Eva Longoria brilla en la gran noche solidaria del Festival de Cannes: un espectacular loo…</a:t>
            </a:r>
          </a:p>
        </p:txBody>
      </p:sp>
      <p:sp>
        <p:nvSpPr>
          <p:cNvPr id="16" name="TextBox 15"/>
          <p:cNvSpPr txBox="1"/>
          <p:nvPr/>
        </p:nvSpPr>
        <p:spPr>
          <a:xfrm>
            <a:off x="457200" y="2788920"/>
            <a:ext cx="8321040" cy="502920"/>
          </a:xfrm>
          <a:prstGeom prst="rect">
            <a:avLst/>
          </a:prstGeom>
          <a:noFill/>
        </p:spPr>
        <p:txBody>
          <a:bodyPr wrap="square">
            <a:spAutoFit/>
          </a:bodyPr>
          <a:lstStyle/>
          <a:p>
            <a:pPr algn="l"/>
            <a:r>
              <a:rPr sz="900" b="0">
                <a:solidFill>
                  <a:srgbClr val="757575"/>
                </a:solidFill>
              </a:rPr>
              <a:t>El evento ha reunido a figuras internacionales del cine, la música y el activismo social</a:t>
            </a:r>
          </a:p>
        </p:txBody>
      </p:sp>
      <p:sp>
        <p:nvSpPr>
          <p:cNvPr id="17" name="TextBox 16"/>
          <p:cNvSpPr txBox="1"/>
          <p:nvPr/>
        </p:nvSpPr>
        <p:spPr>
          <a:xfrm>
            <a:off x="457200" y="3310128"/>
            <a:ext cx="3657600" cy="228600"/>
          </a:xfrm>
          <a:prstGeom prst="rect">
            <a:avLst/>
          </a:prstGeom>
          <a:noFill/>
        </p:spPr>
        <p:txBody>
          <a:bodyPr wrap="square">
            <a:spAutoFit/>
          </a:bodyPr>
          <a:lstStyle/>
          <a:p>
            <a:pPr algn="l"/>
            <a:r>
              <a:rPr sz="800" b="0">
                <a:solidFill>
                  <a:srgbClr val="757575"/>
                </a:solidFill>
              </a:rPr>
              <a:t>📰 Hola</a:t>
            </a:r>
          </a:p>
        </p:txBody>
      </p:sp>
      <p:sp>
        <p:nvSpPr>
          <p:cNvPr id="18" name="Rectangle 17"/>
          <p:cNvSpPr/>
          <p:nvPr/>
        </p:nvSpPr>
        <p:spPr>
          <a:xfrm>
            <a:off x="274320" y="3694176"/>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3694176"/>
            <a:ext cx="54864"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3785616"/>
            <a:ext cx="64008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3785616"/>
            <a:ext cx="640080" cy="274320"/>
          </a:xfrm>
          <a:prstGeom prst="rect">
            <a:avLst/>
          </a:prstGeom>
          <a:noFill/>
        </p:spPr>
        <p:txBody>
          <a:bodyPr wrap="square">
            <a:spAutoFit/>
          </a:bodyPr>
          <a:lstStyle/>
          <a:p>
            <a:pPr algn="ctr"/>
            <a:r>
              <a:rPr sz="900" b="1">
                <a:solidFill>
                  <a:srgbClr val="FFFFFF"/>
                </a:solidFill>
              </a:rPr>
              <a:t>5/10</a:t>
            </a:r>
          </a:p>
        </p:txBody>
      </p:sp>
      <p:sp>
        <p:nvSpPr>
          <p:cNvPr id="22" name="TextBox 21"/>
          <p:cNvSpPr txBox="1"/>
          <p:nvPr/>
        </p:nvSpPr>
        <p:spPr>
          <a:xfrm>
            <a:off x="457200" y="3785616"/>
            <a:ext cx="7498080" cy="347472"/>
          </a:xfrm>
          <a:prstGeom prst="rect">
            <a:avLst/>
          </a:prstGeom>
          <a:noFill/>
        </p:spPr>
        <p:txBody>
          <a:bodyPr wrap="square">
            <a:spAutoFit/>
          </a:bodyPr>
          <a:lstStyle/>
          <a:p>
            <a:pPr algn="l"/>
            <a:r>
              <a:rPr sz="1100" b="1">
                <a:solidFill>
                  <a:srgbClr val="212121"/>
                </a:solidFill>
              </a:rPr>
              <a:t>Illa pacta con el Tercer Sector condonar la deuda energética a familias vulnerables</a:t>
            </a:r>
          </a:p>
        </p:txBody>
      </p:sp>
      <p:sp>
        <p:nvSpPr>
          <p:cNvPr id="23" name="TextBox 22"/>
          <p:cNvSpPr txBox="1"/>
          <p:nvPr/>
        </p:nvSpPr>
        <p:spPr>
          <a:xfrm>
            <a:off x="457200" y="4133088"/>
            <a:ext cx="8321040" cy="502920"/>
          </a:xfrm>
          <a:prstGeom prst="rect">
            <a:avLst/>
          </a:prstGeom>
          <a:noFill/>
        </p:spPr>
        <p:txBody>
          <a:bodyPr wrap="square">
            <a:spAutoFit/>
          </a:bodyPr>
          <a:lstStyle/>
          <a:p>
            <a:pPr algn="l"/>
            <a:r>
              <a:rPr sz="900" b="0">
                <a:solidFill>
                  <a:srgbClr val="757575"/>
                </a:solidFill>
              </a:rPr>
              <a:t>El presidente de la Generalitat, Salvador Illa, y el de la Taula del Tercer Sector Social de Catalunya, Xavier Trabado, han firmado este jueves un acuerdo que c…</a:t>
            </a:r>
          </a:p>
        </p:txBody>
      </p:sp>
      <p:sp>
        <p:nvSpPr>
          <p:cNvPr id="24" name="TextBox 23"/>
          <p:cNvSpPr txBox="1"/>
          <p:nvPr/>
        </p:nvSpPr>
        <p:spPr>
          <a:xfrm>
            <a:off x="457200" y="4654296"/>
            <a:ext cx="3657600" cy="228600"/>
          </a:xfrm>
          <a:prstGeom prst="rect">
            <a:avLst/>
          </a:prstGeom>
          <a:noFill/>
        </p:spPr>
        <p:txBody>
          <a:bodyPr wrap="square">
            <a:spAutoFit/>
          </a:bodyPr>
          <a:lstStyle/>
          <a:p>
            <a:pPr algn="l"/>
            <a:r>
              <a:rPr sz="800" b="0">
                <a:solidFill>
                  <a:srgbClr val="757575"/>
                </a:solidFill>
              </a:rPr>
              <a:t>📰 Europapress.es</a:t>
            </a:r>
          </a:p>
        </p:txBody>
      </p:sp>
      <p:sp>
        <p:nvSpPr>
          <p:cNvPr id="25" name="Rectangle 24"/>
          <p:cNvSpPr/>
          <p:nvPr/>
        </p:nvSpPr>
        <p:spPr>
          <a:xfrm>
            <a:off x="274320" y="5038344"/>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4320" y="5038344"/>
            <a:ext cx="54864"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5129784"/>
            <a:ext cx="64008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0" y="5129784"/>
            <a:ext cx="640080" cy="274320"/>
          </a:xfrm>
          <a:prstGeom prst="rect">
            <a:avLst/>
          </a:prstGeom>
          <a:noFill/>
        </p:spPr>
        <p:txBody>
          <a:bodyPr wrap="square">
            <a:spAutoFit/>
          </a:bodyPr>
          <a:lstStyle/>
          <a:p>
            <a:pPr algn="ctr"/>
            <a:r>
              <a:rPr sz="900" b="1">
                <a:solidFill>
                  <a:srgbClr val="FFFFFF"/>
                </a:solidFill>
              </a:rPr>
              <a:t>5/10</a:t>
            </a:r>
          </a:p>
        </p:txBody>
      </p:sp>
      <p:sp>
        <p:nvSpPr>
          <p:cNvPr id="29" name="TextBox 28"/>
          <p:cNvSpPr txBox="1"/>
          <p:nvPr/>
        </p:nvSpPr>
        <p:spPr>
          <a:xfrm>
            <a:off x="457200" y="5129784"/>
            <a:ext cx="7498080" cy="347472"/>
          </a:xfrm>
          <a:prstGeom prst="rect">
            <a:avLst/>
          </a:prstGeom>
          <a:noFill/>
        </p:spPr>
        <p:txBody>
          <a:bodyPr wrap="square">
            <a:spAutoFit/>
          </a:bodyPr>
          <a:lstStyle/>
          <a:p>
            <a:pPr algn="l"/>
            <a:r>
              <a:rPr sz="1100" b="1">
                <a:solidFill>
                  <a:srgbClr val="212121"/>
                </a:solidFill>
              </a:rPr>
              <a:t>La Diputación de Almería y el Ayuntamiento de El Ejido entregan a Down El Ejido el proyect…</a:t>
            </a:r>
          </a:p>
        </p:txBody>
      </p:sp>
      <p:sp>
        <p:nvSpPr>
          <p:cNvPr id="30" name="TextBox 29"/>
          <p:cNvSpPr txBox="1"/>
          <p:nvPr/>
        </p:nvSpPr>
        <p:spPr>
          <a:xfrm>
            <a:off x="457200" y="5477256"/>
            <a:ext cx="8321040" cy="502920"/>
          </a:xfrm>
          <a:prstGeom prst="rect">
            <a:avLst/>
          </a:prstGeom>
          <a:noFill/>
        </p:spPr>
        <p:txBody>
          <a:bodyPr wrap="square">
            <a:spAutoFit/>
          </a:bodyPr>
          <a:lstStyle/>
          <a:p>
            <a:pPr algn="l"/>
            <a:r>
              <a:rPr sz="900" b="0">
                <a:solidFill>
                  <a:srgbClr val="757575"/>
                </a:solidFill>
              </a:rPr>
              <a:t>La Asociación Down El Ejido ha recibido de la Diputación de Almería y del Ayuntamiento ejidense el proyecto finalizado de su futura sede, un edificio "moderno y…</a:t>
            </a:r>
          </a:p>
        </p:txBody>
      </p:sp>
      <p:sp>
        <p:nvSpPr>
          <p:cNvPr id="31" name="TextBox 30"/>
          <p:cNvSpPr txBox="1"/>
          <p:nvPr/>
        </p:nvSpPr>
        <p:spPr>
          <a:xfrm>
            <a:off x="457200" y="5998464"/>
            <a:ext cx="3657600" cy="228600"/>
          </a:xfrm>
          <a:prstGeom prst="rect">
            <a:avLst/>
          </a:prstGeom>
          <a:noFill/>
        </p:spPr>
        <p:txBody>
          <a:bodyPr wrap="square">
            <a:spAutoFit/>
          </a:bodyPr>
          <a:lstStyle/>
          <a:p>
            <a:pPr algn="l"/>
            <a:r>
              <a:rPr sz="800" b="0">
                <a:solidFill>
                  <a:srgbClr val="757575"/>
                </a:solidFill>
              </a:rPr>
              <a:t>📰 Europapress.es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3118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8229600" cy="594360"/>
          </a:xfrm>
          <a:prstGeom prst="rect">
            <a:avLst/>
          </a:prstGeom>
          <a:noFill/>
        </p:spPr>
        <p:txBody>
          <a:bodyPr wrap="square">
            <a:spAutoFit/>
          </a:bodyPr>
          <a:lstStyle/>
          <a:p>
            <a:pPr algn="l"/>
            <a:r>
              <a:rPr sz="2400" b="1">
                <a:solidFill>
                  <a:srgbClr val="FFFFFF"/>
                </a:solidFill>
              </a:rPr>
              <a:t>🏛  CMF / Regulación</a:t>
            </a:r>
          </a:p>
        </p:txBody>
      </p:sp>
      <p:sp>
        <p:nvSpPr>
          <p:cNvPr id="4" name="Rectangle 3"/>
          <p:cNvSpPr/>
          <p:nvPr/>
        </p:nvSpPr>
        <p:spPr>
          <a:xfrm>
            <a:off x="274320" y="1005840"/>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005840"/>
            <a:ext cx="54864"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138160" y="1097280"/>
            <a:ext cx="64008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0" y="1097280"/>
            <a:ext cx="640080" cy="274320"/>
          </a:xfrm>
          <a:prstGeom prst="rect">
            <a:avLst/>
          </a:prstGeom>
          <a:noFill/>
        </p:spPr>
        <p:txBody>
          <a:bodyPr wrap="square">
            <a:spAutoFit/>
          </a:bodyPr>
          <a:lstStyle/>
          <a:p>
            <a:pPr algn="ctr"/>
            <a:r>
              <a:rPr sz="900" b="1">
                <a:solidFill>
                  <a:srgbClr val="FFFFFF"/>
                </a:solidFill>
              </a:rPr>
              <a:t>5/10</a:t>
            </a:r>
          </a:p>
        </p:txBody>
      </p:sp>
      <p:sp>
        <p:nvSpPr>
          <p:cNvPr id="8" name="TextBox 7"/>
          <p:cNvSpPr txBox="1"/>
          <p:nvPr/>
        </p:nvSpPr>
        <p:spPr>
          <a:xfrm>
            <a:off x="457200" y="1097280"/>
            <a:ext cx="7498080" cy="347472"/>
          </a:xfrm>
          <a:prstGeom prst="rect">
            <a:avLst/>
          </a:prstGeom>
          <a:noFill/>
        </p:spPr>
        <p:txBody>
          <a:bodyPr wrap="square">
            <a:spAutoFit/>
          </a:bodyPr>
          <a:lstStyle/>
          <a:p>
            <a:pPr algn="l"/>
            <a:r>
              <a:rPr sz="1100" b="1">
                <a:solidFill>
                  <a:srgbClr val="212121"/>
                </a:solidFill>
              </a:rPr>
              <a:t>José Antonio Gaspar, director general jurídico removido de la CMF: “Siendo honesto, no me …</a:t>
            </a:r>
          </a:p>
        </p:txBody>
      </p:sp>
      <p:sp>
        <p:nvSpPr>
          <p:cNvPr id="9" name="TextBox 8"/>
          <p:cNvSpPr txBox="1"/>
          <p:nvPr/>
        </p:nvSpPr>
        <p:spPr>
          <a:xfrm>
            <a:off x="457200" y="1444752"/>
            <a:ext cx="8321040" cy="502920"/>
          </a:xfrm>
          <a:prstGeom prst="rect">
            <a:avLst/>
          </a:prstGeom>
          <a:noFill/>
        </p:spPr>
        <p:txBody>
          <a:bodyPr wrap="square">
            <a:spAutoFit/>
          </a:bodyPr>
          <a:lstStyle/>
          <a:p>
            <a:pPr algn="l"/>
            <a:r>
              <a:rPr sz="900" b="0">
                <a:solidFill>
                  <a:srgbClr val="757575"/>
                </a:solidFill>
              </a:rPr>
              <a:t>El exdirectivo de la CMF, que fue desvinculado por su nueva presidenta, Catherine Tornel, hace un balance sobre los doce años que estuvo en el organismo regulad…</a:t>
            </a:r>
          </a:p>
        </p:txBody>
      </p:sp>
      <p:sp>
        <p:nvSpPr>
          <p:cNvPr id="10" name="TextBox 9"/>
          <p:cNvSpPr txBox="1"/>
          <p:nvPr/>
        </p:nvSpPr>
        <p:spPr>
          <a:xfrm>
            <a:off x="457200" y="1965960"/>
            <a:ext cx="3657600" cy="228600"/>
          </a:xfrm>
          <a:prstGeom prst="rect">
            <a:avLst/>
          </a:prstGeom>
          <a:noFill/>
        </p:spPr>
        <p:txBody>
          <a:bodyPr wrap="square">
            <a:spAutoFit/>
          </a:bodyPr>
          <a:lstStyle/>
          <a:p>
            <a:pPr algn="l"/>
            <a:r>
              <a:rPr sz="800" b="0">
                <a:solidFill>
                  <a:srgbClr val="757575"/>
                </a:solidFill>
              </a:rPr>
              <a:t>📰 Latercera.com</a:t>
            </a:r>
          </a:p>
        </p:txBody>
      </p:sp>
      <p:sp>
        <p:nvSpPr>
          <p:cNvPr id="11" name="Rectangle 10"/>
          <p:cNvSpPr/>
          <p:nvPr/>
        </p:nvSpPr>
        <p:spPr>
          <a:xfrm>
            <a:off x="274320" y="2350008"/>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2350008"/>
            <a:ext cx="54864"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138160" y="2441448"/>
            <a:ext cx="64008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38160" y="2441448"/>
            <a:ext cx="640080" cy="274320"/>
          </a:xfrm>
          <a:prstGeom prst="rect">
            <a:avLst/>
          </a:prstGeom>
          <a:noFill/>
        </p:spPr>
        <p:txBody>
          <a:bodyPr wrap="square">
            <a:spAutoFit/>
          </a:bodyPr>
          <a:lstStyle/>
          <a:p>
            <a:pPr algn="ctr"/>
            <a:r>
              <a:rPr sz="900" b="1">
                <a:solidFill>
                  <a:srgbClr val="FFFFFF"/>
                </a:solidFill>
              </a:rPr>
              <a:t>5/10</a:t>
            </a:r>
          </a:p>
        </p:txBody>
      </p:sp>
      <p:sp>
        <p:nvSpPr>
          <p:cNvPr id="15" name="TextBox 14"/>
          <p:cNvSpPr txBox="1"/>
          <p:nvPr/>
        </p:nvSpPr>
        <p:spPr>
          <a:xfrm>
            <a:off x="457200" y="2441448"/>
            <a:ext cx="7498080" cy="347472"/>
          </a:xfrm>
          <a:prstGeom prst="rect">
            <a:avLst/>
          </a:prstGeom>
          <a:noFill/>
        </p:spPr>
        <p:txBody>
          <a:bodyPr wrap="square">
            <a:spAutoFit/>
          </a:bodyPr>
          <a:lstStyle/>
          <a:p>
            <a:pPr algn="l"/>
            <a:r>
              <a:rPr sz="1100" b="1">
                <a:solidFill>
                  <a:srgbClr val="212121"/>
                </a:solidFill>
              </a:rPr>
              <a:t>Actas de directorio, computadores requisados y gerentes declarando hace meses: el allanami…</a:t>
            </a:r>
          </a:p>
        </p:txBody>
      </p:sp>
      <p:sp>
        <p:nvSpPr>
          <p:cNvPr id="16" name="TextBox 15"/>
          <p:cNvSpPr txBox="1"/>
          <p:nvPr/>
        </p:nvSpPr>
        <p:spPr>
          <a:xfrm>
            <a:off x="457200" y="2788920"/>
            <a:ext cx="8321040" cy="502920"/>
          </a:xfrm>
          <a:prstGeom prst="rect">
            <a:avLst/>
          </a:prstGeom>
          <a:noFill/>
        </p:spPr>
        <p:txBody>
          <a:bodyPr wrap="square">
            <a:spAutoFit/>
          </a:bodyPr>
          <a:lstStyle/>
          <a:p>
            <a:pPr algn="l"/>
            <a:r>
              <a:rPr sz="900" b="0">
                <a:solidFill>
                  <a:srgbClr val="757575"/>
                </a:solidFill>
              </a:rPr>
              <a:t>El operativo se extendió por cerca de tres horas e incluyó todo tipo de documentos relacionados al expresidente Michael Clark. Cecilia Pérez no estaba en La Cis…</a:t>
            </a:r>
          </a:p>
        </p:txBody>
      </p:sp>
      <p:sp>
        <p:nvSpPr>
          <p:cNvPr id="17" name="TextBox 16"/>
          <p:cNvSpPr txBox="1"/>
          <p:nvPr/>
        </p:nvSpPr>
        <p:spPr>
          <a:xfrm>
            <a:off x="457200" y="3310128"/>
            <a:ext cx="3657600" cy="228600"/>
          </a:xfrm>
          <a:prstGeom prst="rect">
            <a:avLst/>
          </a:prstGeom>
          <a:noFill/>
        </p:spPr>
        <p:txBody>
          <a:bodyPr wrap="square">
            <a:spAutoFit/>
          </a:bodyPr>
          <a:lstStyle/>
          <a:p>
            <a:pPr algn="l"/>
            <a:r>
              <a:rPr sz="800" b="0">
                <a:solidFill>
                  <a:srgbClr val="757575"/>
                </a:solidFill>
              </a:rPr>
              <a:t>📰 Latercera.com</a:t>
            </a:r>
          </a:p>
        </p:txBody>
      </p:sp>
      <p:sp>
        <p:nvSpPr>
          <p:cNvPr id="18" name="Rectangle 17"/>
          <p:cNvSpPr/>
          <p:nvPr/>
        </p:nvSpPr>
        <p:spPr>
          <a:xfrm>
            <a:off x="274320" y="3694176"/>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3694176"/>
            <a:ext cx="54864"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8160" y="3785616"/>
            <a:ext cx="64008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3785616"/>
            <a:ext cx="640080" cy="274320"/>
          </a:xfrm>
          <a:prstGeom prst="rect">
            <a:avLst/>
          </a:prstGeom>
          <a:noFill/>
        </p:spPr>
        <p:txBody>
          <a:bodyPr wrap="square">
            <a:spAutoFit/>
          </a:bodyPr>
          <a:lstStyle/>
          <a:p>
            <a:pPr algn="ctr"/>
            <a:r>
              <a:rPr sz="900" b="1">
                <a:solidFill>
                  <a:srgbClr val="FFFFFF"/>
                </a:solidFill>
              </a:rPr>
              <a:t>5/10</a:t>
            </a:r>
          </a:p>
        </p:txBody>
      </p:sp>
      <p:sp>
        <p:nvSpPr>
          <p:cNvPr id="22" name="TextBox 21"/>
          <p:cNvSpPr txBox="1"/>
          <p:nvPr/>
        </p:nvSpPr>
        <p:spPr>
          <a:xfrm>
            <a:off x="457200" y="3785616"/>
            <a:ext cx="7498080" cy="347472"/>
          </a:xfrm>
          <a:prstGeom prst="rect">
            <a:avLst/>
          </a:prstGeom>
          <a:noFill/>
        </p:spPr>
        <p:txBody>
          <a:bodyPr wrap="square">
            <a:spAutoFit/>
          </a:bodyPr>
          <a:lstStyle/>
          <a:p>
            <a:pPr algn="l"/>
            <a:r>
              <a:rPr sz="1100" b="1">
                <a:solidFill>
                  <a:srgbClr val="212121"/>
                </a:solidFill>
              </a:rPr>
              <a:t>Caso Sartor: Fiscalía allana el centro deportivo de la Universidad de Chile y domicilio de…</a:t>
            </a:r>
          </a:p>
        </p:txBody>
      </p:sp>
      <p:sp>
        <p:nvSpPr>
          <p:cNvPr id="23" name="TextBox 22"/>
          <p:cNvSpPr txBox="1"/>
          <p:nvPr/>
        </p:nvSpPr>
        <p:spPr>
          <a:xfrm>
            <a:off x="457200" y="4133088"/>
            <a:ext cx="8321040" cy="502920"/>
          </a:xfrm>
          <a:prstGeom prst="rect">
            <a:avLst/>
          </a:prstGeom>
          <a:noFill/>
        </p:spPr>
        <p:txBody>
          <a:bodyPr wrap="square">
            <a:spAutoFit/>
          </a:bodyPr>
          <a:lstStyle/>
          <a:p>
            <a:pPr algn="l"/>
            <a:r>
              <a:rPr sz="900" b="0">
                <a:solidFill>
                  <a:srgbClr val="757575"/>
                </a:solidFill>
              </a:rPr>
              <a:t>El Ministerio Público investiga irregularidades financieras como negociación incompatible, fraude a Ley de Mercado de Valores y omisión de oferta pública de adq…</a:t>
            </a:r>
          </a:p>
        </p:txBody>
      </p:sp>
      <p:sp>
        <p:nvSpPr>
          <p:cNvPr id="24" name="TextBox 23"/>
          <p:cNvSpPr txBox="1"/>
          <p:nvPr/>
        </p:nvSpPr>
        <p:spPr>
          <a:xfrm>
            <a:off x="457200" y="4654296"/>
            <a:ext cx="3657600" cy="228600"/>
          </a:xfrm>
          <a:prstGeom prst="rect">
            <a:avLst/>
          </a:prstGeom>
          <a:noFill/>
        </p:spPr>
        <p:txBody>
          <a:bodyPr wrap="square">
            <a:spAutoFit/>
          </a:bodyPr>
          <a:lstStyle/>
          <a:p>
            <a:pPr algn="l"/>
            <a:r>
              <a:rPr sz="800" b="0">
                <a:solidFill>
                  <a:srgbClr val="757575"/>
                </a:solidFill>
              </a:rPr>
              <a:t>📰 Latercera.com</a:t>
            </a:r>
          </a:p>
        </p:txBody>
      </p:sp>
      <p:sp>
        <p:nvSpPr>
          <p:cNvPr id="25" name="Rectangle 24"/>
          <p:cNvSpPr/>
          <p:nvPr/>
        </p:nvSpPr>
        <p:spPr>
          <a:xfrm>
            <a:off x="274320" y="5038344"/>
            <a:ext cx="8595360" cy="1234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4320" y="5038344"/>
            <a:ext cx="54864" cy="12344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138160" y="5129784"/>
            <a:ext cx="640080" cy="27432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0" y="5129784"/>
            <a:ext cx="640080" cy="274320"/>
          </a:xfrm>
          <a:prstGeom prst="rect">
            <a:avLst/>
          </a:prstGeom>
          <a:noFill/>
        </p:spPr>
        <p:txBody>
          <a:bodyPr wrap="square">
            <a:spAutoFit/>
          </a:bodyPr>
          <a:lstStyle/>
          <a:p>
            <a:pPr algn="ctr"/>
            <a:r>
              <a:rPr sz="900" b="1">
                <a:solidFill>
                  <a:srgbClr val="FFFFFF"/>
                </a:solidFill>
              </a:rPr>
              <a:t>5/10</a:t>
            </a:r>
          </a:p>
        </p:txBody>
      </p:sp>
      <p:sp>
        <p:nvSpPr>
          <p:cNvPr id="29" name="TextBox 28"/>
          <p:cNvSpPr txBox="1"/>
          <p:nvPr/>
        </p:nvSpPr>
        <p:spPr>
          <a:xfrm>
            <a:off x="457200" y="5129784"/>
            <a:ext cx="7498080" cy="347472"/>
          </a:xfrm>
          <a:prstGeom prst="rect">
            <a:avLst/>
          </a:prstGeom>
          <a:noFill/>
        </p:spPr>
        <p:txBody>
          <a:bodyPr wrap="square">
            <a:spAutoFit/>
          </a:bodyPr>
          <a:lstStyle/>
          <a:p>
            <a:pPr algn="l"/>
            <a:r>
              <a:rPr sz="1100" b="1">
                <a:solidFill>
                  <a:srgbClr val="212121"/>
                </a:solidFill>
              </a:rPr>
              <a:t>Caso Primus: Deloitte y su socio Roberto Leiva arremeten contra la CMF en tribunales por m…</a:t>
            </a:r>
          </a:p>
        </p:txBody>
      </p:sp>
      <p:sp>
        <p:nvSpPr>
          <p:cNvPr id="30" name="TextBox 29"/>
          <p:cNvSpPr txBox="1"/>
          <p:nvPr/>
        </p:nvSpPr>
        <p:spPr>
          <a:xfrm>
            <a:off x="457200" y="5477256"/>
            <a:ext cx="8321040" cy="502920"/>
          </a:xfrm>
          <a:prstGeom prst="rect">
            <a:avLst/>
          </a:prstGeom>
          <a:noFill/>
        </p:spPr>
        <p:txBody>
          <a:bodyPr wrap="square">
            <a:spAutoFit/>
          </a:bodyPr>
          <a:lstStyle/>
          <a:p>
            <a:pPr algn="l"/>
            <a:r>
              <a:rPr sz="900" b="0">
                <a:solidFill>
                  <a:srgbClr val="757575"/>
                </a:solidFill>
              </a:rPr>
              <a:t>Deloitte y su socio Roberto Leiva presentaron reclamos de ilegalidad contra las multas de la CMF, argumentando que el regulador impuso exigencias que exceden la…</a:t>
            </a:r>
          </a:p>
        </p:txBody>
      </p:sp>
      <p:sp>
        <p:nvSpPr>
          <p:cNvPr id="31" name="TextBox 30"/>
          <p:cNvSpPr txBox="1"/>
          <p:nvPr/>
        </p:nvSpPr>
        <p:spPr>
          <a:xfrm>
            <a:off x="457200" y="5998464"/>
            <a:ext cx="3657600" cy="228600"/>
          </a:xfrm>
          <a:prstGeom prst="rect">
            <a:avLst/>
          </a:prstGeom>
          <a:noFill/>
        </p:spPr>
        <p:txBody>
          <a:bodyPr wrap="square">
            <a:spAutoFit/>
          </a:bodyPr>
          <a:lstStyle/>
          <a:p>
            <a:pPr algn="l"/>
            <a:r>
              <a:rPr sz="800" b="0">
                <a:solidFill>
                  <a:srgbClr val="757575"/>
                </a:solidFill>
              </a:rPr>
              <a:t>📰 Latercera.com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1B5E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8229600" cy="594360"/>
          </a:xfrm>
          <a:prstGeom prst="rect">
            <a:avLst/>
          </a:prstGeom>
          <a:noFill/>
        </p:spPr>
        <p:txBody>
          <a:bodyPr wrap="square">
            <a:spAutoFit/>
          </a:bodyPr>
          <a:lstStyle/>
          <a:p>
            <a:pPr algn="l"/>
            <a:r>
              <a:rPr sz="2400" b="1">
                <a:solidFill>
                  <a:srgbClr val="FFFFFF"/>
                </a:solidFill>
              </a:rPr>
              <a:t>📈  Mercados</a:t>
            </a:r>
          </a:p>
        </p:txBody>
      </p:sp>
      <p:sp>
        <p:nvSpPr>
          <p:cNvPr id="4" name="TextBox 3"/>
          <p:cNvSpPr txBox="1"/>
          <p:nvPr/>
        </p:nvSpPr>
        <p:spPr>
          <a:xfrm>
            <a:off x="457200" y="1371600"/>
            <a:ext cx="8229600" cy="914400"/>
          </a:xfrm>
          <a:prstGeom prst="rect">
            <a:avLst/>
          </a:prstGeom>
          <a:noFill/>
        </p:spPr>
        <p:txBody>
          <a:bodyPr wrap="square">
            <a:spAutoFit/>
          </a:bodyPr>
          <a:lstStyle/>
          <a:p>
            <a:pPr algn="l"/>
            <a:r>
              <a:rPr sz="1300" b="0">
                <a:solidFill>
                  <a:srgbClr val="757575"/>
                </a:solidFill>
              </a:rPr>
              <a:t>Sin noticias disponibles para esta categoría.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4A14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8229600" cy="594360"/>
          </a:xfrm>
          <a:prstGeom prst="rect">
            <a:avLst/>
          </a:prstGeom>
          <a:noFill/>
        </p:spPr>
        <p:txBody>
          <a:bodyPr wrap="square">
            <a:spAutoFit/>
          </a:bodyPr>
          <a:lstStyle/>
          <a:p>
            <a:pPr algn="l"/>
            <a:r>
              <a:rPr sz="2400" b="1">
                <a:solidFill>
                  <a:srgbClr val="FFFFFF"/>
                </a:solidFill>
              </a:rPr>
              <a:t>🚀  Tendencias Tech</a:t>
            </a:r>
          </a:p>
        </p:txBody>
      </p:sp>
      <p:sp>
        <p:nvSpPr>
          <p:cNvPr id="4" name="TextBox 3"/>
          <p:cNvSpPr txBox="1"/>
          <p:nvPr/>
        </p:nvSpPr>
        <p:spPr>
          <a:xfrm>
            <a:off x="457200" y="1371600"/>
            <a:ext cx="8229600" cy="914400"/>
          </a:xfrm>
          <a:prstGeom prst="rect">
            <a:avLst/>
          </a:prstGeom>
          <a:noFill/>
        </p:spPr>
        <p:txBody>
          <a:bodyPr wrap="square">
            <a:spAutoFit/>
          </a:bodyPr>
          <a:lstStyle/>
          <a:p>
            <a:pPr algn="l"/>
            <a:r>
              <a:rPr sz="1300" b="0">
                <a:solidFill>
                  <a:srgbClr val="757575"/>
                </a:solidFill>
              </a:rPr>
              <a:t>Sin noticias disponibles para esta categoría.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Rectangle 1"/>
          <p:cNvSpPr/>
          <p:nvPr/>
        </p:nvSpPr>
        <p:spPr>
          <a:xfrm>
            <a:off x="0" y="0"/>
            <a:ext cx="9144000" cy="914400"/>
          </a:xfrm>
          <a:prstGeom prst="rect">
            <a:avLst/>
          </a:prstGeom>
          <a:solidFill>
            <a:srgbClr val="004D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201168"/>
            <a:ext cx="8229600" cy="594360"/>
          </a:xfrm>
          <a:prstGeom prst="rect">
            <a:avLst/>
          </a:prstGeom>
          <a:noFill/>
        </p:spPr>
        <p:txBody>
          <a:bodyPr wrap="square">
            <a:spAutoFit/>
          </a:bodyPr>
          <a:lstStyle/>
          <a:p>
            <a:pPr algn="l"/>
            <a:r>
              <a:rPr sz="2400" b="1">
                <a:solidFill>
                  <a:srgbClr val="FFFFFF"/>
                </a:solidFill>
              </a:rPr>
              <a:t>🤖  Inteligencia Artificial</a:t>
            </a:r>
          </a:p>
        </p:txBody>
      </p:sp>
      <p:sp>
        <p:nvSpPr>
          <p:cNvPr id="4" name="TextBox 3"/>
          <p:cNvSpPr txBox="1"/>
          <p:nvPr/>
        </p:nvSpPr>
        <p:spPr>
          <a:xfrm>
            <a:off x="457200" y="1371600"/>
            <a:ext cx="8229600" cy="914400"/>
          </a:xfrm>
          <a:prstGeom prst="rect">
            <a:avLst/>
          </a:prstGeom>
          <a:noFill/>
        </p:spPr>
        <p:txBody>
          <a:bodyPr wrap="square">
            <a:spAutoFit/>
          </a:bodyPr>
          <a:lstStyle/>
          <a:p>
            <a:pPr algn="l"/>
            <a:r>
              <a:rPr sz="1300" b="0">
                <a:solidFill>
                  <a:srgbClr val="757575"/>
                </a:solidFill>
              </a:rPr>
              <a:t>Sin noticias disponibles para esta categoría.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237E"/>
        </a:solidFill>
        <a:effectLst/>
      </p:bgPr>
    </p:bg>
    <p:spTree>
      <p:nvGrpSpPr>
        <p:cNvPr id="1" name=""/>
        <p:cNvGrpSpPr/>
        <p:nvPr/>
      </p:nvGrpSpPr>
      <p:grpSpPr/>
      <p:sp>
        <p:nvSpPr>
          <p:cNvPr id="2" name="Rectangle 1"/>
          <p:cNvSpPr/>
          <p:nvPr/>
        </p:nvSpPr>
        <p:spPr>
          <a:xfrm>
            <a:off x="0" y="0"/>
            <a:ext cx="9144000" cy="109728"/>
          </a:xfrm>
          <a:prstGeom prst="rect">
            <a:avLst/>
          </a:prstGeom>
          <a:solidFill>
            <a:srgbClr val="0089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1371600"/>
            <a:ext cx="7315200" cy="731520"/>
          </a:xfrm>
          <a:prstGeom prst="rect">
            <a:avLst/>
          </a:prstGeom>
          <a:noFill/>
        </p:spPr>
        <p:txBody>
          <a:bodyPr wrap="square">
            <a:spAutoFit/>
          </a:bodyPr>
          <a:lstStyle/>
          <a:p>
            <a:pPr algn="ctr"/>
            <a:r>
              <a:rPr sz="4800" b="0">
                <a:solidFill>
                  <a:srgbClr val="FFFFFF"/>
                </a:solidFill>
              </a:rPr>
              <a:t>📊</a:t>
            </a:r>
          </a:p>
        </p:txBody>
      </p:sp>
      <p:sp>
        <p:nvSpPr>
          <p:cNvPr id="4" name="TextBox 3"/>
          <p:cNvSpPr txBox="1"/>
          <p:nvPr/>
        </p:nvSpPr>
        <p:spPr>
          <a:xfrm>
            <a:off x="914400" y="2377440"/>
            <a:ext cx="7315200" cy="640080"/>
          </a:xfrm>
          <a:prstGeom prst="rect">
            <a:avLst/>
          </a:prstGeom>
          <a:noFill/>
        </p:spPr>
        <p:txBody>
          <a:bodyPr wrap="square">
            <a:spAutoFit/>
          </a:bodyPr>
          <a:lstStyle/>
          <a:p>
            <a:pPr algn="ctr"/>
            <a:r>
              <a:rPr sz="2800" b="1">
                <a:solidFill>
                  <a:srgbClr val="FFFFFF"/>
                </a:solidFill>
              </a:rPr>
              <a:t>12 noticias analizadas</a:t>
            </a:r>
          </a:p>
        </p:txBody>
      </p:sp>
      <p:sp>
        <p:nvSpPr>
          <p:cNvPr id="5" name="TextBox 4"/>
          <p:cNvSpPr txBox="1"/>
          <p:nvPr/>
        </p:nvSpPr>
        <p:spPr>
          <a:xfrm>
            <a:off x="914400" y="3108960"/>
            <a:ext cx="7315200" cy="457200"/>
          </a:xfrm>
          <a:prstGeom prst="rect">
            <a:avLst/>
          </a:prstGeom>
          <a:noFill/>
        </p:spPr>
        <p:txBody>
          <a:bodyPr wrap="square">
            <a:spAutoFit/>
          </a:bodyPr>
          <a:lstStyle/>
          <a:p>
            <a:pPr algn="ctr"/>
            <a:r>
              <a:rPr sz="1400" b="0">
                <a:solidFill>
                  <a:srgbClr val="00897B"/>
                </a:solidFill>
              </a:rPr>
              <a:t>Edición 22 de Mayo de 2026</a:t>
            </a:r>
          </a:p>
        </p:txBody>
      </p:sp>
      <p:sp>
        <p:nvSpPr>
          <p:cNvPr id="6" name="TextBox 5"/>
          <p:cNvSpPr txBox="1"/>
          <p:nvPr/>
        </p:nvSpPr>
        <p:spPr>
          <a:xfrm>
            <a:off x="914400" y="3749039"/>
            <a:ext cx="7315200" cy="457200"/>
          </a:xfrm>
          <a:prstGeom prst="rect">
            <a:avLst/>
          </a:prstGeom>
          <a:noFill/>
        </p:spPr>
        <p:txBody>
          <a:bodyPr wrap="square">
            <a:spAutoFit/>
          </a:bodyPr>
          <a:lstStyle/>
          <a:p>
            <a:pPr algn="ctr"/>
            <a:r>
              <a:rPr sz="1200" b="0">
                <a:solidFill>
                  <a:srgbClr val="BBC7FF"/>
                </a:solidFill>
              </a:rPr>
              <a:t>erickfranciscohernandez.github.io/financiero</a:t>
            </a:r>
          </a:p>
        </p:txBody>
      </p:sp>
      <p:sp>
        <p:nvSpPr>
          <p:cNvPr id="7" name="Rectangle 6"/>
          <p:cNvSpPr/>
          <p:nvPr/>
        </p:nvSpPr>
        <p:spPr>
          <a:xfrm>
            <a:off x="0" y="4325112"/>
            <a:ext cx="9144000" cy="822960"/>
          </a:xfrm>
          <a:prstGeom prst="rect">
            <a:avLst/>
          </a:prstGeom>
          <a:solidFill>
            <a:srgbClr val="2835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462272"/>
            <a:ext cx="8229600" cy="502920"/>
          </a:xfrm>
          <a:prstGeom prst="rect">
            <a:avLst/>
          </a:prstGeom>
          <a:noFill/>
        </p:spPr>
        <p:txBody>
          <a:bodyPr wrap="square">
            <a:spAutoFit/>
          </a:bodyPr>
          <a:lstStyle/>
          <a:p>
            <a:pPr algn="ctr"/>
            <a:r>
              <a:rPr sz="1000" b="0">
                <a:solidFill>
                  <a:srgbClr val="BBC7FF"/>
                </a:solidFill>
              </a:rPr>
              <a:t>Newsletter Estratégico Financiero · Generado automáticamente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